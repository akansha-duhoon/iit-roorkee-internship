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81" r:id="rId2"/>
    <p:sldId id="333" r:id="rId3"/>
    <p:sldId id="322" r:id="rId4"/>
    <p:sldId id="330" r:id="rId5"/>
    <p:sldId id="334" r:id="rId6"/>
    <p:sldId id="335" r:id="rId7"/>
    <p:sldId id="329" r:id="rId8"/>
    <p:sldId id="328" r:id="rId9"/>
    <p:sldId id="332" r:id="rId10"/>
    <p:sldId id="327" r:id="rId11"/>
    <p:sldId id="326" r:id="rId12"/>
    <p:sldId id="325" r:id="rId13"/>
    <p:sldId id="336" r:id="rId14"/>
    <p:sldId id="324" r:id="rId15"/>
    <p:sldId id="323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7" d="100"/>
          <a:sy n="107" d="100"/>
        </p:scale>
        <p:origin x="71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5BAEB5-225E-4810-9563-E46323C0869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EC49624-476A-4471-B279-AD909F19733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D3A42A1-7CD4-415E-8AF4-9D85D9FED9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EF5DC5-E8E1-4A4B-A884-6C770968C94A}" type="datetimeFigureOut">
              <a:rPr lang="en-IN" smtClean="0"/>
              <a:t>13-07-2026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20AA0E-0E69-484F-B4AE-93740666AA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BD02798-846B-46C5-8E9A-002676BC0F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69F6BF-410A-4A0D-95F8-52951416D10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399046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E2FB1A-C635-4763-B822-C6815F5DBD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BB9B05-75E0-4400-9E29-DF00D535B3A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B4A95CD-B135-4E87-BCEB-F5CDA5DBA0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EF5DC5-E8E1-4A4B-A884-6C770968C94A}" type="datetimeFigureOut">
              <a:rPr lang="en-IN" smtClean="0"/>
              <a:t>13-07-2026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7B66C0-FFE4-4C76-B50F-64FA114792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E35CFC-DB24-4743-890C-852D3A402D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69F6BF-410A-4A0D-95F8-52951416D10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008772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674D71-AFB1-4E1C-8AE8-524A4FF25C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D06E175-81E0-45F0-BDB5-A097DE6FDBF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DC4499F-80ED-4BDB-AA88-138ACF1DDB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EF5DC5-E8E1-4A4B-A884-6C770968C94A}" type="datetimeFigureOut">
              <a:rPr lang="en-IN" smtClean="0"/>
              <a:t>13-07-2026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31B6B7-9591-4020-867B-9AACA9D0E1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AADEF05-F6A0-42F1-9ECA-4ABD4541C6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69F6BF-410A-4A0D-95F8-52951416D10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093252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F8E95C-93DD-4EDC-B202-DE1512A4E2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4E3F80-1B52-49CF-9284-17541428C15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10BBC02-DF00-4C66-85B6-7928B8EA880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41F04E9-34DD-4A67-9A08-5A37CA5A48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EF5DC5-E8E1-4A4B-A884-6C770968C94A}" type="datetimeFigureOut">
              <a:rPr lang="en-IN" smtClean="0"/>
              <a:t>13-07-2026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A8AB592-86DD-461C-92CF-E718CE4244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6EA06F5-01A7-4D6A-B553-A96AA8B2D6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69F6BF-410A-4A0D-95F8-52951416D10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599077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A233C1-C9CF-4644-AA3B-B31241C851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A8190FF-FA3F-4E33-8D8E-C0BF30642A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5AD967B-973D-44B5-93D0-CBBB95E8896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7229746-207D-44BD-A805-8FB32B95517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DAE08D6-F6B4-4C59-AC21-11CACBE749F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FB3A868-1684-4D51-9909-E6FEBA237D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EF5DC5-E8E1-4A4B-A884-6C770968C94A}" type="datetimeFigureOut">
              <a:rPr lang="en-IN" smtClean="0"/>
              <a:t>13-07-2026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63C4DB7-8D66-4385-8F36-DDB0B406F8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12238E7-75D6-4B5A-9A5E-94AF3DDFFF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69F6BF-410A-4A0D-95F8-52951416D10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211027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521F7D-9A0E-4428-AFA6-B3884B8660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CFD0FE8-FBC4-4053-A9DB-007B50B02A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EF5DC5-E8E1-4A4B-A884-6C770968C94A}" type="datetimeFigureOut">
              <a:rPr lang="en-IN" smtClean="0"/>
              <a:t>13-07-2026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94F5807-E233-4E49-A82E-99348F18B8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CEE2138-6BF4-4E1E-8532-88B172A8AE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69F6BF-410A-4A0D-95F8-52951416D10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7291684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AA22116-2130-4A94-A2E7-88243ABBEF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EF5DC5-E8E1-4A4B-A884-6C770968C94A}" type="datetimeFigureOut">
              <a:rPr lang="en-IN" smtClean="0"/>
              <a:t>13-07-2026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9FB84FF-3C8D-4AF6-ACFC-BBB36E20D4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121DE3D-6CA5-40DA-BF1D-E201083898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69F6BF-410A-4A0D-95F8-52951416D10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3116963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3699DD-99C2-4B2F-AB88-D320B4676F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CFC6A9-2E46-4F1C-979D-61E38C8C5BD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46BF673-C3EC-4B67-86DA-0C2F5AD86E9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4E0DD5C-A4A3-456F-A80A-CC716C66B0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EF5DC5-E8E1-4A4B-A884-6C770968C94A}" type="datetimeFigureOut">
              <a:rPr lang="en-IN" smtClean="0"/>
              <a:t>13-07-2026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C19E7FB-5912-492F-B954-BE022C6CD5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40EEE39-41A5-4D5D-8DE7-C16FA7446C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69F6BF-410A-4A0D-95F8-52951416D10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0781843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BA4216-DB91-4F86-AB66-FF06A9B119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3E555AE-30E1-4B94-8AE5-5E8654117A4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4D61B40-8596-4A45-BF52-06D0752E62B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6302313-6DE9-48CC-8A90-1857FDF711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EF5DC5-E8E1-4A4B-A884-6C770968C94A}" type="datetimeFigureOut">
              <a:rPr lang="en-IN" smtClean="0"/>
              <a:t>13-07-2026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4F0DD8B-F55D-4B88-9392-4DD1584779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D70A818-5409-4AFE-B471-373AFE394E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69F6BF-410A-4A0D-95F8-52951416D10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934416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3FD382-98BA-4F37-BB94-642F99FEE4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F94807C-4AD2-4BEF-8657-F80C544E5F8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4BA87A4-FF52-4E32-95A3-F2A31EFA48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EF5DC5-E8E1-4A4B-A884-6C770968C94A}" type="datetimeFigureOut">
              <a:rPr lang="en-IN" smtClean="0"/>
              <a:t>13-07-2026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C08933-D684-4380-9EBA-8DF478B4F5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6EA5C49-D069-4F13-81B1-A1E07B53A4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69F6BF-410A-4A0D-95F8-52951416D10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935249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F3954B0-E481-4AF9-A3BA-564C7010E2A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93368E4-F9C3-4E17-8884-BF1F7F82F58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43F5AA5-E3DC-4A1B-8ECA-54BEAFEE52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EF5DC5-E8E1-4A4B-A884-6C770968C94A}" type="datetimeFigureOut">
              <a:rPr lang="en-IN" smtClean="0"/>
              <a:t>13-07-2026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97FE7C3-D9E2-4027-9A75-6C5E9E6043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E959609-801E-4223-836A-D95A46CA28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69F6BF-410A-4A0D-95F8-52951416D10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297506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367211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65E3B56-6D5C-4682-9920-B94261D4EE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277D9D1-EE96-4CB8-A598-90974E675C1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CA7A5E0-FA87-4BDD-B501-B34239EBA7C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EF5DC5-E8E1-4A4B-A884-6C770968C94A}" type="datetimeFigureOut">
              <a:rPr lang="en-IN" smtClean="0"/>
              <a:t>13-07-2026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D56BB9-162D-4FE6-BD3D-5DE0B1A00D3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C020E43-4D3F-4308-BFAB-EB5E8B801B0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A69F6BF-410A-4A0D-95F8-52951416D10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985981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0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C43C2ADE-F067-45D0-AAAA-FFC13890FBD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982133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C1AAD0F6-9FE5-42AD-AC79-E88FBF31D686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486" t="6826"/>
          <a:stretch/>
        </p:blipFill>
        <p:spPr>
          <a:xfrm>
            <a:off x="0" y="4394200"/>
            <a:ext cx="12192000" cy="2463800"/>
          </a:xfrm>
          <a:prstGeom prst="rect">
            <a:avLst/>
          </a:prstGeom>
        </p:spPr>
      </p:pic>
      <p:sp>
        <p:nvSpPr>
          <p:cNvPr id="5" name="Text 3">
            <a:extLst>
              <a:ext uri="{FF2B5EF4-FFF2-40B4-BE49-F238E27FC236}">
                <a16:creationId xmlns:a16="http://schemas.microsoft.com/office/drawing/2014/main" id="{E3314A08-1627-40ED-BFA4-6793AACB7A59}"/>
              </a:ext>
            </a:extLst>
          </p:cNvPr>
          <p:cNvSpPr/>
          <p:nvPr/>
        </p:nvSpPr>
        <p:spPr>
          <a:xfrm>
            <a:off x="1468967" y="1062571"/>
            <a:ext cx="9254067" cy="108881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>
              <a:lnSpc>
                <a:spcPct val="115000"/>
              </a:lnSpc>
            </a:pPr>
            <a:r>
              <a:rPr lang="en-US" sz="2400" b="1" dirty="0">
                <a:latin typeface="Georgia" pitchFamily="34" charset="0"/>
                <a:ea typeface="Georgia" pitchFamily="34" charset="-122"/>
                <a:cs typeface="Georgia" pitchFamily="34" charset="-120"/>
              </a:rPr>
              <a:t>Predicting Marketing Campaign Response Using EDA, PCA and Gradient-Descent-Based Logistic Regression</a:t>
            </a:r>
            <a:endParaRPr lang="en-US" sz="2400" dirty="0"/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95B2CB65-D2F8-4C74-98AC-5665A3C7ADA1}"/>
              </a:ext>
            </a:extLst>
          </p:cNvPr>
          <p:cNvSpPr txBox="1">
            <a:spLocks/>
          </p:cNvSpPr>
          <p:nvPr/>
        </p:nvSpPr>
        <p:spPr>
          <a:xfrm>
            <a:off x="1264556" y="2303575"/>
            <a:ext cx="9662888" cy="456355"/>
          </a:xfrm>
          <a:prstGeom prst="rect">
            <a:avLst/>
          </a:prstGeom>
        </p:spPr>
        <p:txBody>
          <a:bodyPr anchor="b"/>
          <a:lstStyle>
            <a:lvl1pPr marL="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b="1" i="1" kern="1200">
                <a:solidFill>
                  <a:srgbClr val="000099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dirty="0"/>
              <a:t>Summer Internship- 2026</a:t>
            </a:r>
            <a:endParaRPr lang="en-US" sz="2133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 4">
            <a:extLst>
              <a:ext uri="{FF2B5EF4-FFF2-40B4-BE49-F238E27FC236}">
                <a16:creationId xmlns:a16="http://schemas.microsoft.com/office/drawing/2014/main" id="{2A523A3B-A0A7-42F8-9E01-9BE5577510A4}"/>
              </a:ext>
            </a:extLst>
          </p:cNvPr>
          <p:cNvSpPr/>
          <p:nvPr/>
        </p:nvSpPr>
        <p:spPr>
          <a:xfrm>
            <a:off x="389467" y="3152568"/>
            <a:ext cx="4783667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67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Name</a:t>
            </a:r>
            <a:r>
              <a:rPr lang="en-US" sz="1467" b="1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: Akansha Duhoon</a:t>
            </a:r>
            <a:endParaRPr sz="2000" b="1" dirty="0"/>
          </a:p>
          <a:p>
            <a:r>
              <a:rPr lang="en-US" sz="1467" dirty="0">
                <a:solidFill>
                  <a:prstClr val="black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Supervisor: </a:t>
            </a:r>
            <a:r>
              <a:rPr lang="en-US" sz="1467" b="1" dirty="0">
                <a:solidFill>
                  <a:prstClr val="black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Prof. Millie Pant</a:t>
            </a:r>
          </a:p>
          <a:p>
            <a:r>
              <a:rPr lang="en-US" sz="1467" dirty="0">
                <a:solidFill>
                  <a:prstClr val="black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Mentor: </a:t>
            </a:r>
            <a:r>
              <a:rPr lang="en-US" sz="1467" b="1" dirty="0">
                <a:solidFill>
                  <a:prstClr val="black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: Ms. Riya &amp; Mr. Harjeet </a:t>
            </a:r>
            <a:r>
              <a:rPr lang="en-US" sz="1867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
</a:t>
            </a:r>
            <a:r>
              <a:rPr lang="en-US" sz="1467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Applied Mathematics &amp; Scientific Computing</a:t>
            </a:r>
          </a:p>
          <a:p>
            <a:r>
              <a:rPr lang="en-US" sz="1467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Indian Institute of Technology  Roorkee</a:t>
            </a:r>
            <a:endParaRPr lang="en-US" sz="1867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641723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4E1FFE59-026A-473E-A6C1-33BE905C1CD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4392"/>
          <a:stretch/>
        </p:blipFill>
        <p:spPr>
          <a:xfrm>
            <a:off x="11493298" y="120228"/>
            <a:ext cx="698703" cy="662205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C789F53C-0DA9-4701-8524-7428C456B9C0}"/>
              </a:ext>
            </a:extLst>
          </p:cNvPr>
          <p:cNvSpPr/>
          <p:nvPr/>
        </p:nvSpPr>
        <p:spPr>
          <a:xfrm>
            <a:off x="0" y="827509"/>
            <a:ext cx="12192000" cy="60959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240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8DC0CBA-66F4-4490-B6C3-E30F70CD7B7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27856" y="6292828"/>
            <a:ext cx="2464144" cy="317544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FBA78B91-1AE7-4F8C-97C7-A0C50D96305D}"/>
              </a:ext>
            </a:extLst>
          </p:cNvPr>
          <p:cNvSpPr/>
          <p:nvPr/>
        </p:nvSpPr>
        <p:spPr>
          <a:xfrm>
            <a:off x="0" y="6680200"/>
            <a:ext cx="12192000" cy="1778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2400" dirty="0"/>
          </a:p>
        </p:txBody>
      </p:sp>
      <p:sp>
        <p:nvSpPr>
          <p:cNvPr id="6" name="Text 1">
            <a:extLst>
              <a:ext uri="{FF2B5EF4-FFF2-40B4-BE49-F238E27FC236}">
                <a16:creationId xmlns:a16="http://schemas.microsoft.com/office/drawing/2014/main" id="{4BEB3655-4959-4283-BBCE-3F68CEC4998C}"/>
              </a:ext>
            </a:extLst>
          </p:cNvPr>
          <p:cNvSpPr/>
          <p:nvPr/>
        </p:nvSpPr>
        <p:spPr>
          <a:xfrm>
            <a:off x="426720" y="10131"/>
            <a:ext cx="113385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endParaRPr lang="en-US" sz="2800" dirty="0">
              <a:solidFill>
                <a:srgbClr val="002060"/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69433EA-B855-458C-9B55-5FFF8EEC4890}"/>
              </a:ext>
            </a:extLst>
          </p:cNvPr>
          <p:cNvSpPr txBox="1"/>
          <p:nvPr/>
        </p:nvSpPr>
        <p:spPr>
          <a:xfrm>
            <a:off x="237564" y="228435"/>
            <a:ext cx="1698812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3000" b="1" dirty="0">
                <a:solidFill>
                  <a:schemeClr val="accent1">
                    <a:lumMod val="75000"/>
                  </a:schemeClr>
                </a:solidFill>
              </a:rPr>
              <a:t>Contents</a:t>
            </a:r>
            <a:endParaRPr lang="en-IN" sz="3000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40BF1AD-8EB8-41AD-BCF1-44D7C83869CA}"/>
              </a:ext>
            </a:extLst>
          </p:cNvPr>
          <p:cNvSpPr txBox="1"/>
          <p:nvPr/>
        </p:nvSpPr>
        <p:spPr>
          <a:xfrm>
            <a:off x="237564" y="1005324"/>
            <a:ext cx="3330389" cy="3800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1. Introduction</a:t>
            </a:r>
            <a:br>
              <a:rPr lang="en-US" sz="2000" b="1" dirty="0"/>
            </a:br>
            <a:r>
              <a:rPr lang="en-US" sz="2000" b="1" dirty="0"/>
              <a:t>2. Objectives</a:t>
            </a:r>
            <a:br>
              <a:rPr lang="en-US" sz="2000" b="1" dirty="0"/>
            </a:br>
            <a:r>
              <a:rPr lang="en-US" sz="2000" b="1" dirty="0"/>
              <a:t>3. Dataset Overview</a:t>
            </a:r>
            <a:br>
              <a:rPr lang="en-US" sz="2000" b="1" dirty="0"/>
            </a:br>
            <a:r>
              <a:rPr lang="en-US" sz="2000" b="1" dirty="0"/>
              <a:t>4. Dataset &amp; EDA</a:t>
            </a:r>
            <a:br>
              <a:rPr lang="en-US" sz="2000" b="1" dirty="0"/>
            </a:br>
            <a:r>
              <a:rPr lang="en-US" sz="2000" b="1" dirty="0"/>
              <a:t>5. Data Preprocessing</a:t>
            </a:r>
            <a:br>
              <a:rPr lang="en-US" sz="2000" b="1" dirty="0"/>
            </a:br>
            <a:r>
              <a:rPr lang="en-US" sz="2000" b="1" dirty="0"/>
              <a:t>6. PCA</a:t>
            </a:r>
            <a:br>
              <a:rPr lang="en-US" sz="2000" b="1" dirty="0"/>
            </a:br>
            <a:r>
              <a:rPr lang="en-US" sz="2000" b="1" dirty="0"/>
              <a:t>7. Gradient Descent</a:t>
            </a:r>
            <a:br>
              <a:rPr lang="en-US" sz="2000" b="1" dirty="0"/>
            </a:br>
            <a:r>
              <a:rPr lang="en-US" sz="2000" b="1" dirty="0"/>
              <a:t>8. Results &amp; Conclusion</a:t>
            </a:r>
            <a:br>
              <a:rPr lang="en-US" dirty="0"/>
            </a:br>
            <a:endParaRPr lang="en-IN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68A1658-314C-4ADD-8D45-1343D90F432E}"/>
              </a:ext>
            </a:extLst>
          </p:cNvPr>
          <p:cNvSpPr txBox="1"/>
          <p:nvPr/>
        </p:nvSpPr>
        <p:spPr>
          <a:xfrm>
            <a:off x="290008" y="6584434"/>
            <a:ext cx="2734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1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7719917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4E1FFE59-026A-473E-A6C1-33BE905C1CD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4392"/>
          <a:stretch/>
        </p:blipFill>
        <p:spPr>
          <a:xfrm>
            <a:off x="11493298" y="120228"/>
            <a:ext cx="698703" cy="662205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C789F53C-0DA9-4701-8524-7428C456B9C0}"/>
              </a:ext>
            </a:extLst>
          </p:cNvPr>
          <p:cNvSpPr/>
          <p:nvPr/>
        </p:nvSpPr>
        <p:spPr>
          <a:xfrm>
            <a:off x="0" y="827509"/>
            <a:ext cx="12192000" cy="60959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240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8DC0CBA-66F4-4490-B6C3-E30F70CD7B7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27856" y="6292828"/>
            <a:ext cx="2464144" cy="317544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FBA78B91-1AE7-4F8C-97C7-A0C50D96305D}"/>
              </a:ext>
            </a:extLst>
          </p:cNvPr>
          <p:cNvSpPr/>
          <p:nvPr/>
        </p:nvSpPr>
        <p:spPr>
          <a:xfrm>
            <a:off x="0" y="6698129"/>
            <a:ext cx="12192000" cy="1778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2400" dirty="0"/>
          </a:p>
        </p:txBody>
      </p:sp>
      <p:sp>
        <p:nvSpPr>
          <p:cNvPr id="6" name="Text 1">
            <a:extLst>
              <a:ext uri="{FF2B5EF4-FFF2-40B4-BE49-F238E27FC236}">
                <a16:creationId xmlns:a16="http://schemas.microsoft.com/office/drawing/2014/main" id="{4BEB3655-4959-4283-BBCE-3F68CEC4998C}"/>
              </a:ext>
            </a:extLst>
          </p:cNvPr>
          <p:cNvSpPr/>
          <p:nvPr/>
        </p:nvSpPr>
        <p:spPr>
          <a:xfrm>
            <a:off x="435685" y="10131"/>
            <a:ext cx="113385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800" b="1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lang="en-US" sz="2800" dirty="0">
              <a:solidFill>
                <a:srgbClr val="002060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457200" y="1051560"/>
            <a:ext cx="7040880" cy="4389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228600" indent="-228600" algn="l">
              <a:lnSpc>
                <a:spcPct val="108000"/>
              </a:lnSpc>
              <a:spcAft>
                <a:spcPts val="1400"/>
              </a:spcAft>
              <a:buFont typeface="Arial" pitchFamily="34" charset="0"/>
              <a:buChar char="•"/>
            </a:pPr>
            <a:r>
              <a:rPr sz="1600" dirty="0">
                <a:solidFill>
                  <a:srgbClr val="333333"/>
                </a:solidFill>
                <a:latin typeface="Calibri"/>
              </a:rPr>
              <a:t>Marketing teams run costly campaigns, but only a fraction of customers respond — identifying likely responders in advance improves ROI and cuts wasted spend.</a:t>
            </a:r>
          </a:p>
          <a:p>
            <a:pPr marL="228600" indent="-228600" algn="l">
              <a:lnSpc>
                <a:spcPct val="108000"/>
              </a:lnSpc>
              <a:spcAft>
                <a:spcPts val="1400"/>
              </a:spcAft>
              <a:buFont typeface="Arial" pitchFamily="34" charset="0"/>
              <a:buChar char="•"/>
            </a:pPr>
            <a:r>
              <a:rPr sz="1600" dirty="0">
                <a:solidFill>
                  <a:srgbClr val="333333"/>
                </a:solidFill>
                <a:latin typeface="Calibri"/>
              </a:rPr>
              <a:t>This project analyzes a customer marketing dataset covering demographics, spending habits, purchase channels, and past campaign responses.</a:t>
            </a:r>
          </a:p>
          <a:p>
            <a:pPr marL="228600" indent="-228600" algn="l">
              <a:lnSpc>
                <a:spcPct val="108000"/>
              </a:lnSpc>
              <a:spcAft>
                <a:spcPts val="1400"/>
              </a:spcAft>
              <a:buFont typeface="Arial" pitchFamily="34" charset="0"/>
              <a:buChar char="•"/>
            </a:pPr>
            <a:r>
              <a:rPr sz="1600" dirty="0">
                <a:solidFill>
                  <a:srgbClr val="333333"/>
                </a:solidFill>
                <a:latin typeface="Calibri"/>
              </a:rPr>
              <a:t>Goal: build an end-to-end pipeline — from raw data to a working predictive model — combining exploratory analysis, dimensionality reduction, and classification.</a:t>
            </a:r>
          </a:p>
          <a:p>
            <a:pPr marL="228600" indent="-228600" algn="l">
              <a:lnSpc>
                <a:spcPct val="108000"/>
              </a:lnSpc>
              <a:spcAft>
                <a:spcPts val="1400"/>
              </a:spcAft>
              <a:buFont typeface="Arial" pitchFamily="34" charset="0"/>
              <a:buChar char="•"/>
            </a:pPr>
            <a:r>
              <a:rPr sz="1600" dirty="0">
                <a:solidFill>
                  <a:srgbClr val="333333"/>
                </a:solidFill>
                <a:latin typeface="Calibri"/>
              </a:rPr>
              <a:t>Scope: EDA &amp; preprocessing, PCA, Logistic Regression classification, and a from-scratch study of Gradient Descent optimizers.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818120" y="1188720"/>
            <a:ext cx="3383280" cy="2194560"/>
          </a:xfrm>
          <a:prstGeom prst="roundRect">
            <a:avLst>
              <a:gd name="adj" fmla="val 6000"/>
            </a:avLst>
          </a:prstGeom>
          <a:solidFill>
            <a:srgbClr val="F2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818120" y="1325880"/>
            <a:ext cx="33832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>
                <a:solidFill>
                  <a:srgbClr val="1C7293"/>
                </a:solidFill>
                <a:latin typeface="Calibri"/>
              </a:rPr>
              <a:t>2,240</a:t>
            </a:r>
          </a:p>
          <a:p>
            <a:pPr algn="ctr"/>
            <a:r>
              <a:rPr sz="1200">
                <a:solidFill>
                  <a:srgbClr val="333333"/>
                </a:solidFill>
                <a:latin typeface="Calibri"/>
              </a:rPr>
              <a:t>customer records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818120" y="3611880"/>
            <a:ext cx="3383280" cy="1828800"/>
          </a:xfrm>
          <a:prstGeom prst="roundRect">
            <a:avLst>
              <a:gd name="adj" fmla="val 6000"/>
            </a:avLst>
          </a:prstGeom>
          <a:solidFill>
            <a:srgbClr val="F2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818120" y="3703320"/>
            <a:ext cx="338328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>
                <a:solidFill>
                  <a:srgbClr val="1C7293"/>
                </a:solidFill>
                <a:latin typeface="Calibri"/>
              </a:rPr>
              <a:t>29</a:t>
            </a:r>
          </a:p>
          <a:p>
            <a:pPr algn="ctr"/>
            <a:r>
              <a:rPr sz="1200">
                <a:solidFill>
                  <a:srgbClr val="333333"/>
                </a:solidFill>
                <a:latin typeface="Calibri"/>
              </a:rPr>
              <a:t>raw attributes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137A07D-090C-4621-A48F-95F4816A3F5B}"/>
              </a:ext>
            </a:extLst>
          </p:cNvPr>
          <p:cNvSpPr txBox="1"/>
          <p:nvPr/>
        </p:nvSpPr>
        <p:spPr>
          <a:xfrm>
            <a:off x="457200" y="6602363"/>
            <a:ext cx="914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2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46752465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4E1FFE59-026A-473E-A6C1-33BE905C1CD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4392"/>
          <a:stretch/>
        </p:blipFill>
        <p:spPr>
          <a:xfrm>
            <a:off x="11493298" y="120228"/>
            <a:ext cx="698703" cy="662205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C789F53C-0DA9-4701-8524-7428C456B9C0}"/>
              </a:ext>
            </a:extLst>
          </p:cNvPr>
          <p:cNvSpPr/>
          <p:nvPr/>
        </p:nvSpPr>
        <p:spPr>
          <a:xfrm>
            <a:off x="0" y="827509"/>
            <a:ext cx="12192000" cy="60959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240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8DC0CBA-66F4-4490-B6C3-E30F70CD7B7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27856" y="6292828"/>
            <a:ext cx="2464144" cy="317544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FBA78B91-1AE7-4F8C-97C7-A0C50D96305D}"/>
              </a:ext>
            </a:extLst>
          </p:cNvPr>
          <p:cNvSpPr/>
          <p:nvPr/>
        </p:nvSpPr>
        <p:spPr>
          <a:xfrm>
            <a:off x="0" y="6680200"/>
            <a:ext cx="12192000" cy="1778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2400" dirty="0"/>
          </a:p>
        </p:txBody>
      </p:sp>
      <p:sp>
        <p:nvSpPr>
          <p:cNvPr id="6" name="Text 1">
            <a:extLst>
              <a:ext uri="{FF2B5EF4-FFF2-40B4-BE49-F238E27FC236}">
                <a16:creationId xmlns:a16="http://schemas.microsoft.com/office/drawing/2014/main" id="{4BEB3655-4959-4283-BBCE-3F68CEC4998C}"/>
              </a:ext>
            </a:extLst>
          </p:cNvPr>
          <p:cNvSpPr/>
          <p:nvPr/>
        </p:nvSpPr>
        <p:spPr>
          <a:xfrm>
            <a:off x="435685" y="10131"/>
            <a:ext cx="113385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800" b="1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Objectives</a:t>
            </a:r>
            <a:endParaRPr lang="en-US" sz="2800" dirty="0">
              <a:solidFill>
                <a:srgbClr val="002060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457200" y="1051560"/>
            <a:ext cx="11274552" cy="5120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228600" indent="-228600" algn="l">
              <a:lnSpc>
                <a:spcPct val="108000"/>
              </a:lnSpc>
              <a:spcAft>
                <a:spcPts val="1600"/>
              </a:spcAft>
              <a:buFont typeface="Arial" pitchFamily="34" charset="0"/>
              <a:buChar char="•"/>
            </a:pPr>
            <a:r>
              <a:rPr sz="1700">
                <a:solidFill>
                  <a:srgbClr val="333333"/>
                </a:solidFill>
                <a:latin typeface="Calibri"/>
              </a:rPr>
              <a:t>Explore and understand the dataset through descriptive statistics and visualizations.</a:t>
            </a:r>
          </a:p>
          <a:p>
            <a:pPr marL="228600" indent="-228600" algn="l">
              <a:lnSpc>
                <a:spcPct val="108000"/>
              </a:lnSpc>
              <a:spcAft>
                <a:spcPts val="1600"/>
              </a:spcAft>
              <a:buFont typeface="Arial" pitchFamily="34" charset="0"/>
              <a:buChar char="•"/>
            </a:pPr>
            <a:r>
              <a:rPr sz="1700">
                <a:solidFill>
                  <a:srgbClr val="333333"/>
                </a:solidFill>
                <a:latin typeface="Calibri"/>
              </a:rPr>
              <a:t>Clean and preprocess the data: handle missing values, encode categorical features, and scale numeric features.</a:t>
            </a:r>
          </a:p>
          <a:p>
            <a:pPr marL="228600" indent="-228600" algn="l">
              <a:lnSpc>
                <a:spcPct val="108000"/>
              </a:lnSpc>
              <a:spcAft>
                <a:spcPts val="1600"/>
              </a:spcAft>
              <a:buFont typeface="Arial" pitchFamily="34" charset="0"/>
              <a:buChar char="•"/>
            </a:pPr>
            <a:r>
              <a:rPr sz="1700">
                <a:solidFill>
                  <a:srgbClr val="333333"/>
                </a:solidFill>
                <a:latin typeface="Calibri"/>
              </a:rPr>
              <a:t>Detect and treat outliers to improve overall data quality.</a:t>
            </a:r>
          </a:p>
          <a:p>
            <a:pPr marL="228600" indent="-228600" algn="l">
              <a:lnSpc>
                <a:spcPct val="108000"/>
              </a:lnSpc>
              <a:spcAft>
                <a:spcPts val="1600"/>
              </a:spcAft>
              <a:buFont typeface="Arial" pitchFamily="34" charset="0"/>
              <a:buChar char="•"/>
            </a:pPr>
            <a:r>
              <a:rPr sz="1700">
                <a:solidFill>
                  <a:srgbClr val="333333"/>
                </a:solidFill>
                <a:latin typeface="Calibri"/>
              </a:rPr>
              <a:t>Apply Principal Component Analysis (PCA) for dimensionality reduction and visualization.</a:t>
            </a:r>
          </a:p>
          <a:p>
            <a:pPr marL="228600" indent="-228600" algn="l">
              <a:lnSpc>
                <a:spcPct val="108000"/>
              </a:lnSpc>
              <a:spcAft>
                <a:spcPts val="1600"/>
              </a:spcAft>
              <a:buFont typeface="Arial" pitchFamily="34" charset="0"/>
              <a:buChar char="•"/>
            </a:pPr>
            <a:r>
              <a:rPr sz="1700">
                <a:solidFill>
                  <a:srgbClr val="333333"/>
                </a:solidFill>
                <a:latin typeface="Calibri"/>
              </a:rPr>
              <a:t>Train a Logistic Regression model to predict campaign Response.</a:t>
            </a:r>
          </a:p>
          <a:p>
            <a:pPr marL="228600" indent="-228600" algn="l">
              <a:lnSpc>
                <a:spcPct val="108000"/>
              </a:lnSpc>
              <a:spcAft>
                <a:spcPts val="1600"/>
              </a:spcAft>
              <a:buFont typeface="Arial" pitchFamily="34" charset="0"/>
              <a:buChar char="•"/>
            </a:pPr>
            <a:r>
              <a:rPr sz="1700">
                <a:solidFill>
                  <a:srgbClr val="333333"/>
                </a:solidFill>
                <a:latin typeface="Calibri"/>
              </a:rPr>
              <a:t>Implement Batch, Stochastic, and Mini-Batch Gradient Descent from scratch and compare their convergence behaviour.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87566D5-1FA1-4DDA-B2D5-6F96EB3E3296}"/>
              </a:ext>
            </a:extLst>
          </p:cNvPr>
          <p:cNvSpPr txBox="1"/>
          <p:nvPr/>
        </p:nvSpPr>
        <p:spPr>
          <a:xfrm>
            <a:off x="667870" y="6584434"/>
            <a:ext cx="914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3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46752465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4E1FFE59-026A-473E-A6C1-33BE905C1CD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4392"/>
          <a:stretch/>
        </p:blipFill>
        <p:spPr>
          <a:xfrm>
            <a:off x="11493298" y="120228"/>
            <a:ext cx="698703" cy="662205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C789F53C-0DA9-4701-8524-7428C456B9C0}"/>
              </a:ext>
            </a:extLst>
          </p:cNvPr>
          <p:cNvSpPr/>
          <p:nvPr/>
        </p:nvSpPr>
        <p:spPr>
          <a:xfrm>
            <a:off x="0" y="827509"/>
            <a:ext cx="12192000" cy="60959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240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8DC0CBA-66F4-4490-B6C3-E30F70CD7B7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27856" y="6292828"/>
            <a:ext cx="2464144" cy="317544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FBA78B91-1AE7-4F8C-97C7-A0C50D96305D}"/>
              </a:ext>
            </a:extLst>
          </p:cNvPr>
          <p:cNvSpPr/>
          <p:nvPr/>
        </p:nvSpPr>
        <p:spPr>
          <a:xfrm>
            <a:off x="0" y="6698129"/>
            <a:ext cx="12192000" cy="1778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2400" dirty="0"/>
          </a:p>
        </p:txBody>
      </p:sp>
      <p:sp>
        <p:nvSpPr>
          <p:cNvPr id="6" name="Text 1">
            <a:extLst>
              <a:ext uri="{FF2B5EF4-FFF2-40B4-BE49-F238E27FC236}">
                <a16:creationId xmlns:a16="http://schemas.microsoft.com/office/drawing/2014/main" id="{4BEB3655-4959-4283-BBCE-3F68CEC4998C}"/>
              </a:ext>
            </a:extLst>
          </p:cNvPr>
          <p:cNvSpPr/>
          <p:nvPr/>
        </p:nvSpPr>
        <p:spPr>
          <a:xfrm>
            <a:off x="435685" y="10131"/>
            <a:ext cx="113385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800" b="1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Overview</a:t>
            </a:r>
            <a:endParaRPr lang="en-US" sz="2800" dirty="0">
              <a:solidFill>
                <a:srgbClr val="002060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457200" y="1051560"/>
            <a:ext cx="7040880" cy="4389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228600" indent="-228600" algn="l">
              <a:lnSpc>
                <a:spcPct val="108000"/>
              </a:lnSpc>
              <a:spcAft>
                <a:spcPts val="1400"/>
              </a:spcAft>
              <a:buFont typeface="Arial" pitchFamily="34" charset="0"/>
              <a:buChar char="•"/>
            </a:pPr>
            <a:r>
              <a:rPr sz="1600" dirty="0">
                <a:solidFill>
                  <a:srgbClr val="333333"/>
                </a:solidFill>
                <a:latin typeface="Calibri"/>
              </a:rPr>
              <a:t>Raw data: 2,240 rows × 29 columns spanning demographics, income, product spend, purchase channels, and campaign-acceptance flags.</a:t>
            </a:r>
          </a:p>
          <a:p>
            <a:pPr marL="228600" indent="-228600" algn="l">
              <a:lnSpc>
                <a:spcPct val="108000"/>
              </a:lnSpc>
              <a:spcAft>
                <a:spcPts val="1400"/>
              </a:spcAft>
              <a:buFont typeface="Arial" pitchFamily="34" charset="0"/>
              <a:buChar char="•"/>
            </a:pPr>
            <a:r>
              <a:rPr sz="1600" dirty="0">
                <a:solidFill>
                  <a:srgbClr val="333333"/>
                </a:solidFill>
                <a:latin typeface="Calibri"/>
              </a:rPr>
              <a:t>Data types: 25 integer columns, 1 float column (Income), and 3 categorical/date columns (Education, Marital_Status, Dt_Customer) — a mostly numeric dataset.</a:t>
            </a:r>
          </a:p>
          <a:p>
            <a:pPr marL="228600" indent="-228600" algn="l">
              <a:lnSpc>
                <a:spcPct val="108000"/>
              </a:lnSpc>
              <a:spcAft>
                <a:spcPts val="1400"/>
              </a:spcAft>
              <a:buFont typeface="Arial" pitchFamily="34" charset="0"/>
              <a:buChar char="•"/>
            </a:pPr>
            <a:r>
              <a:rPr sz="1600" dirty="0">
                <a:solidFill>
                  <a:srgbClr val="333333"/>
                </a:solidFill>
                <a:latin typeface="Calibri"/>
              </a:rPr>
              <a:t>Only Income has missing values (24 records, ~1% of the data); every other column is fully populated.</a:t>
            </a:r>
          </a:p>
          <a:p>
            <a:pPr marL="228600" indent="-228600" algn="l">
              <a:lnSpc>
                <a:spcPct val="108000"/>
              </a:lnSpc>
              <a:spcAft>
                <a:spcPts val="1400"/>
              </a:spcAft>
              <a:buFont typeface="Arial" pitchFamily="34" charset="0"/>
              <a:buChar char="•"/>
            </a:pPr>
            <a:r>
              <a:rPr sz="1600" dirty="0">
                <a:solidFill>
                  <a:srgbClr val="333333"/>
                </a:solidFill>
                <a:latin typeface="Calibri"/>
              </a:rPr>
              <a:t>Income averages ~₹52,247 (median ₹51,382), ranging from ₹1,730 to an outlier max of ₹666,666 — motivating the outlier-treatment step later in preprocessing.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818120" y="1188720"/>
            <a:ext cx="3383280" cy="2194560"/>
          </a:xfrm>
          <a:prstGeom prst="roundRect">
            <a:avLst>
              <a:gd name="adj" fmla="val 6000"/>
            </a:avLst>
          </a:prstGeom>
          <a:solidFill>
            <a:srgbClr val="F2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818120" y="1325880"/>
            <a:ext cx="33832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>
                <a:solidFill>
                  <a:srgbClr val="1C7293"/>
                </a:solidFill>
                <a:latin typeface="Calibri"/>
              </a:rPr>
              <a:t>2,240</a:t>
            </a:r>
          </a:p>
          <a:p>
            <a:pPr algn="ctr"/>
            <a:r>
              <a:rPr sz="1200">
                <a:solidFill>
                  <a:srgbClr val="333333"/>
                </a:solidFill>
                <a:latin typeface="Calibri"/>
              </a:rPr>
              <a:t>customer records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818120" y="3611880"/>
            <a:ext cx="3383280" cy="1828800"/>
          </a:xfrm>
          <a:prstGeom prst="roundRect">
            <a:avLst>
              <a:gd name="adj" fmla="val 6000"/>
            </a:avLst>
          </a:prstGeom>
          <a:solidFill>
            <a:srgbClr val="F2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818120" y="3703320"/>
            <a:ext cx="338328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>
                <a:solidFill>
                  <a:srgbClr val="1C7293"/>
                </a:solidFill>
                <a:latin typeface="Calibri"/>
              </a:rPr>
              <a:t>24</a:t>
            </a:r>
          </a:p>
          <a:p>
            <a:pPr algn="ctr"/>
            <a:r>
              <a:rPr sz="1200">
                <a:solidFill>
                  <a:srgbClr val="333333"/>
                </a:solidFill>
                <a:latin typeface="Calibri"/>
              </a:rPr>
              <a:t>missing values (Income only)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137A07D-090C-4621-A48F-95F4816A3F5B}"/>
              </a:ext>
            </a:extLst>
          </p:cNvPr>
          <p:cNvSpPr txBox="1"/>
          <p:nvPr/>
        </p:nvSpPr>
        <p:spPr>
          <a:xfrm>
            <a:off x="457200" y="6602363"/>
            <a:ext cx="914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4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46752465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4E1FFE59-026A-473E-A6C1-33BE905C1CD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4392"/>
          <a:stretch/>
        </p:blipFill>
        <p:spPr>
          <a:xfrm>
            <a:off x="11493298" y="120228"/>
            <a:ext cx="698703" cy="662205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C789F53C-0DA9-4701-8524-7428C456B9C0}"/>
              </a:ext>
            </a:extLst>
          </p:cNvPr>
          <p:cNvSpPr/>
          <p:nvPr/>
        </p:nvSpPr>
        <p:spPr>
          <a:xfrm>
            <a:off x="0" y="827509"/>
            <a:ext cx="12192000" cy="60959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240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8DC0CBA-66F4-4490-B6C3-E30F70CD7B7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27856" y="6292828"/>
            <a:ext cx="2464144" cy="317544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FBA78B91-1AE7-4F8C-97C7-A0C50D96305D}"/>
              </a:ext>
            </a:extLst>
          </p:cNvPr>
          <p:cNvSpPr/>
          <p:nvPr/>
        </p:nvSpPr>
        <p:spPr>
          <a:xfrm>
            <a:off x="0" y="6680200"/>
            <a:ext cx="12192000" cy="1778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2400" dirty="0"/>
          </a:p>
        </p:txBody>
      </p:sp>
      <p:sp>
        <p:nvSpPr>
          <p:cNvPr id="6" name="Text 1">
            <a:extLst>
              <a:ext uri="{FF2B5EF4-FFF2-40B4-BE49-F238E27FC236}">
                <a16:creationId xmlns:a16="http://schemas.microsoft.com/office/drawing/2014/main" id="{4BEB3655-4959-4283-BBCE-3F68CEC4998C}"/>
              </a:ext>
            </a:extLst>
          </p:cNvPr>
          <p:cNvSpPr/>
          <p:nvPr/>
        </p:nvSpPr>
        <p:spPr>
          <a:xfrm>
            <a:off x="426720" y="10131"/>
            <a:ext cx="113385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endParaRPr lang="en-US" sz="2800" dirty="0">
              <a:solidFill>
                <a:srgbClr val="002060"/>
              </a:solidFill>
            </a:endParaRPr>
          </a:p>
        </p:txBody>
      </p:sp>
      <p:pic>
        <p:nvPicPr>
          <p:cNvPr id="8" name="Picture 7" descr="feature_distributions_grid.png">
            <a:extLst>
              <a:ext uri="{FF2B5EF4-FFF2-40B4-BE49-F238E27FC236}">
                <a16:creationId xmlns:a16="http://schemas.microsoft.com/office/drawing/2014/main" id="{3A539342-4C81-4DE4-B27C-5986B6D295C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55059" y="1363691"/>
            <a:ext cx="5481881" cy="4979376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85B76FD0-08BD-4EAC-A78C-03FC2DF354FB}"/>
              </a:ext>
            </a:extLst>
          </p:cNvPr>
          <p:cNvSpPr/>
          <p:nvPr/>
        </p:nvSpPr>
        <p:spPr>
          <a:xfrm>
            <a:off x="213749" y="924531"/>
            <a:ext cx="588225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srgbClr val="002060"/>
                </a:solidFill>
              </a:rPr>
              <a:t>Distributions of key numeric features (Year of Birth, Income, Recency, Wine Spend, Store &amp; Web Visits)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0EE32EB-92F5-4F87-80B4-FE430D7BE00E}"/>
              </a:ext>
            </a:extLst>
          </p:cNvPr>
          <p:cNvSpPr txBox="1"/>
          <p:nvPr/>
        </p:nvSpPr>
        <p:spPr>
          <a:xfrm>
            <a:off x="632011" y="6584434"/>
            <a:ext cx="914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5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81452539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4E1FFE59-026A-473E-A6C1-33BE905C1CD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4392"/>
          <a:stretch/>
        </p:blipFill>
        <p:spPr>
          <a:xfrm>
            <a:off x="11493298" y="120228"/>
            <a:ext cx="698703" cy="662205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C789F53C-0DA9-4701-8524-7428C456B9C0}"/>
              </a:ext>
            </a:extLst>
          </p:cNvPr>
          <p:cNvSpPr/>
          <p:nvPr/>
        </p:nvSpPr>
        <p:spPr>
          <a:xfrm>
            <a:off x="0" y="827509"/>
            <a:ext cx="12192000" cy="60959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240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8DC0CBA-66F4-4490-B6C3-E30F70CD7B7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27856" y="6292828"/>
            <a:ext cx="2464144" cy="317544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FBA78B91-1AE7-4F8C-97C7-A0C50D96305D}"/>
              </a:ext>
            </a:extLst>
          </p:cNvPr>
          <p:cNvSpPr/>
          <p:nvPr/>
        </p:nvSpPr>
        <p:spPr>
          <a:xfrm>
            <a:off x="0" y="6680200"/>
            <a:ext cx="12192000" cy="1778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2400" dirty="0"/>
          </a:p>
        </p:txBody>
      </p:sp>
      <p:sp>
        <p:nvSpPr>
          <p:cNvPr id="6" name="Text 1">
            <a:extLst>
              <a:ext uri="{FF2B5EF4-FFF2-40B4-BE49-F238E27FC236}">
                <a16:creationId xmlns:a16="http://schemas.microsoft.com/office/drawing/2014/main" id="{4BEB3655-4959-4283-BBCE-3F68CEC4998C}"/>
              </a:ext>
            </a:extLst>
          </p:cNvPr>
          <p:cNvSpPr/>
          <p:nvPr/>
        </p:nvSpPr>
        <p:spPr>
          <a:xfrm>
            <a:off x="435685" y="10131"/>
            <a:ext cx="113385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800" b="1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&amp; Exploratory Data Analysis</a:t>
            </a:r>
            <a:endParaRPr lang="en-US" sz="2800" dirty="0">
              <a:solidFill>
                <a:srgbClr val="002060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457200" y="1051560"/>
            <a:ext cx="5577840" cy="5120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228600" indent="-228600" algn="l">
              <a:lnSpc>
                <a:spcPct val="108000"/>
              </a:lnSpc>
              <a:spcAft>
                <a:spcPts val="1400"/>
              </a:spcAft>
              <a:buFont typeface="Arial" pitchFamily="34" charset="0"/>
              <a:buChar char="•"/>
            </a:pPr>
            <a:r>
              <a:rPr sz="1500">
                <a:solidFill>
                  <a:srgbClr val="333333"/>
                </a:solidFill>
                <a:latin typeface="Calibri"/>
              </a:rPr>
              <a:t>2,240 customer records with 29 attributes: demographics, spend across product categories, purchase channels, and campaign-acceptance history.</a:t>
            </a:r>
          </a:p>
          <a:p>
            <a:pPr marL="228600" indent="-228600" algn="l">
              <a:lnSpc>
                <a:spcPct val="108000"/>
              </a:lnSpc>
              <a:spcAft>
                <a:spcPts val="1400"/>
              </a:spcAft>
              <a:buFont typeface="Arial" pitchFamily="34" charset="0"/>
              <a:buChar char="•"/>
            </a:pPr>
            <a:r>
              <a:rPr sz="1500">
                <a:solidFill>
                  <a:srgbClr val="333333"/>
                </a:solidFill>
                <a:latin typeface="Calibri"/>
              </a:rPr>
              <a:t>Income had 24 missing values; distributions were reviewed using histograms and boxplots across all numerical columns.</a:t>
            </a:r>
          </a:p>
          <a:p>
            <a:pPr marL="228600" indent="-228600" algn="l">
              <a:lnSpc>
                <a:spcPct val="108000"/>
              </a:lnSpc>
              <a:spcAft>
                <a:spcPts val="1400"/>
              </a:spcAft>
              <a:buFont typeface="Arial" pitchFamily="34" charset="0"/>
              <a:buChar char="•"/>
            </a:pPr>
            <a:r>
              <a:rPr sz="1500">
                <a:solidFill>
                  <a:srgbClr val="333333"/>
                </a:solidFill>
                <a:latin typeface="Calibri"/>
              </a:rPr>
              <a:t>A correlation heatmap reveals moderate positive relationships among purchase-related variables (wine and meat spend, store and web purchases), while most other features show weak correlation.</a:t>
            </a:r>
          </a:p>
          <a:p>
            <a:pPr marL="228600" indent="-228600" algn="l">
              <a:lnSpc>
                <a:spcPct val="108000"/>
              </a:lnSpc>
              <a:spcAft>
                <a:spcPts val="1400"/>
              </a:spcAft>
              <a:buFont typeface="Arial" pitchFamily="34" charset="0"/>
              <a:buChar char="•"/>
            </a:pPr>
            <a:r>
              <a:rPr sz="1500">
                <a:solidFill>
                  <a:srgbClr val="333333"/>
                </a:solidFill>
                <a:latin typeface="Calibri"/>
              </a:rPr>
              <a:t>Pair plots of top features helped visualize relationships between income and spending behaviour.</a:t>
            </a:r>
          </a:p>
        </p:txBody>
      </p:sp>
      <p:pic>
        <p:nvPicPr>
          <p:cNvPr id="8" name="Picture 7" descr="corr_heatma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36023" y="1234439"/>
            <a:ext cx="5821423" cy="4699031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3E0B239A-457D-4872-9386-81DA25E4BD46}"/>
              </a:ext>
            </a:extLst>
          </p:cNvPr>
          <p:cNvSpPr txBox="1"/>
          <p:nvPr/>
        </p:nvSpPr>
        <p:spPr>
          <a:xfrm>
            <a:off x="435685" y="6610372"/>
            <a:ext cx="914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6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46752465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4E1FFE59-026A-473E-A6C1-33BE905C1CD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4392"/>
          <a:stretch/>
        </p:blipFill>
        <p:spPr>
          <a:xfrm>
            <a:off x="11493298" y="120228"/>
            <a:ext cx="698703" cy="662205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C789F53C-0DA9-4701-8524-7428C456B9C0}"/>
              </a:ext>
            </a:extLst>
          </p:cNvPr>
          <p:cNvSpPr/>
          <p:nvPr/>
        </p:nvSpPr>
        <p:spPr>
          <a:xfrm>
            <a:off x="0" y="827509"/>
            <a:ext cx="12192000" cy="60959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240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8DC0CBA-66F4-4490-B6C3-E30F70CD7B7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27856" y="6292828"/>
            <a:ext cx="2464144" cy="317544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FBA78B91-1AE7-4F8C-97C7-A0C50D96305D}"/>
              </a:ext>
            </a:extLst>
          </p:cNvPr>
          <p:cNvSpPr/>
          <p:nvPr/>
        </p:nvSpPr>
        <p:spPr>
          <a:xfrm>
            <a:off x="0" y="6680200"/>
            <a:ext cx="12192000" cy="1778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2400" dirty="0"/>
          </a:p>
        </p:txBody>
      </p:sp>
      <p:sp>
        <p:nvSpPr>
          <p:cNvPr id="6" name="Text 1">
            <a:extLst>
              <a:ext uri="{FF2B5EF4-FFF2-40B4-BE49-F238E27FC236}">
                <a16:creationId xmlns:a16="http://schemas.microsoft.com/office/drawing/2014/main" id="{4BEB3655-4959-4283-BBCE-3F68CEC4998C}"/>
              </a:ext>
            </a:extLst>
          </p:cNvPr>
          <p:cNvSpPr/>
          <p:nvPr/>
        </p:nvSpPr>
        <p:spPr>
          <a:xfrm>
            <a:off x="435685" y="10131"/>
            <a:ext cx="113385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800" b="1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Preprocessing</a:t>
            </a:r>
            <a:endParaRPr lang="en-US" sz="2800" dirty="0">
              <a:solidFill>
                <a:srgbClr val="002060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457200" y="1051560"/>
            <a:ext cx="5852160" cy="5120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228600" indent="-228600" algn="l">
              <a:lnSpc>
                <a:spcPct val="108000"/>
              </a:lnSpc>
              <a:spcAft>
                <a:spcPts val="1300"/>
              </a:spcAft>
              <a:buFont typeface="Arial" pitchFamily="34" charset="0"/>
              <a:buChar char="•"/>
            </a:pPr>
            <a:r>
              <a:rPr sz="1500" dirty="0">
                <a:solidFill>
                  <a:srgbClr val="333333"/>
                </a:solidFill>
                <a:latin typeface="Calibri"/>
              </a:rPr>
              <a:t>Missing Income values imputed with the median; missing categorical values imputed with the mode.</a:t>
            </a:r>
          </a:p>
          <a:p>
            <a:pPr marL="228600" indent="-228600" algn="l">
              <a:lnSpc>
                <a:spcPct val="108000"/>
              </a:lnSpc>
              <a:spcAft>
                <a:spcPts val="1300"/>
              </a:spcAft>
              <a:buFont typeface="Arial" pitchFamily="34" charset="0"/>
              <a:buChar char="•"/>
            </a:pPr>
            <a:r>
              <a:rPr sz="1500" dirty="0">
                <a:solidFill>
                  <a:srgbClr val="333333"/>
                </a:solidFill>
                <a:latin typeface="Calibri"/>
              </a:rPr>
              <a:t>Education and Marital_Status one-hot encoded.</a:t>
            </a:r>
          </a:p>
          <a:p>
            <a:pPr marL="228600" indent="-228600" algn="l">
              <a:lnSpc>
                <a:spcPct val="108000"/>
              </a:lnSpc>
              <a:spcAft>
                <a:spcPts val="1300"/>
              </a:spcAft>
              <a:buFont typeface="Arial" pitchFamily="34" charset="0"/>
              <a:buChar char="•"/>
            </a:pPr>
            <a:r>
              <a:rPr sz="1500" dirty="0">
                <a:solidFill>
                  <a:srgbClr val="333333"/>
                </a:solidFill>
                <a:latin typeface="Calibri"/>
              </a:rPr>
              <a:t>Numeric features standardized (StandardScaler); MinMaxScaler compared for reference.</a:t>
            </a:r>
          </a:p>
          <a:p>
            <a:pPr marL="228600" indent="-228600" algn="l">
              <a:lnSpc>
                <a:spcPct val="108000"/>
              </a:lnSpc>
              <a:spcAft>
                <a:spcPts val="1300"/>
              </a:spcAft>
              <a:buFont typeface="Arial" pitchFamily="34" charset="0"/>
              <a:buChar char="•"/>
            </a:pPr>
            <a:r>
              <a:rPr sz="1500" dirty="0">
                <a:solidFill>
                  <a:srgbClr val="333333"/>
                </a:solidFill>
                <a:latin typeface="Calibri"/>
              </a:rPr>
              <a:t>Outliers removed using a Z-score threshold (|z| &lt; 3): dataset reduced from 2,240 to 1,592 records.</a:t>
            </a:r>
          </a:p>
          <a:p>
            <a:pPr marL="228600" indent="-228600" algn="l">
              <a:lnSpc>
                <a:spcPct val="108000"/>
              </a:lnSpc>
              <a:spcAft>
                <a:spcPts val="1300"/>
              </a:spcAft>
              <a:buFont typeface="Arial" pitchFamily="34" charset="0"/>
              <a:buChar char="•"/>
            </a:pPr>
            <a:r>
              <a:rPr sz="1500" dirty="0">
                <a:solidFill>
                  <a:srgbClr val="333333"/>
                </a:solidFill>
                <a:latin typeface="Calibri"/>
              </a:rPr>
              <a:t>Dt_Customer converted into a new engineered feature, Customer_Tenure_Days.</a:t>
            </a:r>
          </a:p>
          <a:p>
            <a:pPr marL="228600" indent="-228600" algn="l">
              <a:lnSpc>
                <a:spcPct val="108000"/>
              </a:lnSpc>
              <a:spcAft>
                <a:spcPts val="1300"/>
              </a:spcAft>
              <a:buFont typeface="Arial" pitchFamily="34" charset="0"/>
              <a:buChar char="•"/>
            </a:pPr>
            <a:r>
              <a:rPr sz="1500" dirty="0">
                <a:solidFill>
                  <a:srgbClr val="333333"/>
                </a:solidFill>
                <a:latin typeface="Calibri"/>
              </a:rPr>
              <a:t>Data split into training (1,273) and test (319) sets — an 80/20 split.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17B9F11-D6C0-41FE-889F-1A82182650D7}"/>
              </a:ext>
            </a:extLst>
          </p:cNvPr>
          <p:cNvSpPr txBox="1"/>
          <p:nvPr/>
        </p:nvSpPr>
        <p:spPr>
          <a:xfrm>
            <a:off x="309282" y="6584434"/>
            <a:ext cx="914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7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46752465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4E1FFE59-026A-473E-A6C1-33BE905C1CD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4392"/>
          <a:stretch/>
        </p:blipFill>
        <p:spPr>
          <a:xfrm>
            <a:off x="11493298" y="120228"/>
            <a:ext cx="698703" cy="662205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C789F53C-0DA9-4701-8524-7428C456B9C0}"/>
              </a:ext>
            </a:extLst>
          </p:cNvPr>
          <p:cNvSpPr/>
          <p:nvPr/>
        </p:nvSpPr>
        <p:spPr>
          <a:xfrm>
            <a:off x="0" y="827509"/>
            <a:ext cx="12192000" cy="60959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240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8DC0CBA-66F4-4490-B6C3-E30F70CD7B7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27856" y="6292828"/>
            <a:ext cx="2464144" cy="317544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FBA78B91-1AE7-4F8C-97C7-A0C50D96305D}"/>
              </a:ext>
            </a:extLst>
          </p:cNvPr>
          <p:cNvSpPr/>
          <p:nvPr/>
        </p:nvSpPr>
        <p:spPr>
          <a:xfrm>
            <a:off x="0" y="6680200"/>
            <a:ext cx="12192000" cy="1778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2400" dirty="0"/>
          </a:p>
        </p:txBody>
      </p:sp>
      <p:sp>
        <p:nvSpPr>
          <p:cNvPr id="6" name="Text 1">
            <a:extLst>
              <a:ext uri="{FF2B5EF4-FFF2-40B4-BE49-F238E27FC236}">
                <a16:creationId xmlns:a16="http://schemas.microsoft.com/office/drawing/2014/main" id="{4BEB3655-4959-4283-BBCE-3F68CEC4998C}"/>
              </a:ext>
            </a:extLst>
          </p:cNvPr>
          <p:cNvSpPr/>
          <p:nvPr/>
        </p:nvSpPr>
        <p:spPr>
          <a:xfrm>
            <a:off x="426720" y="10131"/>
            <a:ext cx="113385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endParaRPr lang="en-US" sz="2800" dirty="0">
              <a:solidFill>
                <a:srgbClr val="002060"/>
              </a:solidFill>
            </a:endParaRPr>
          </a:p>
        </p:txBody>
      </p:sp>
      <p:pic>
        <p:nvPicPr>
          <p:cNvPr id="8" name="Picture 7" descr="boxplots.png">
            <a:extLst>
              <a:ext uri="{FF2B5EF4-FFF2-40B4-BE49-F238E27FC236}">
                <a16:creationId xmlns:a16="http://schemas.microsoft.com/office/drawing/2014/main" id="{3A539342-4C81-4DE4-B27C-5986B6D295C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0008" y="1363691"/>
            <a:ext cx="9012219" cy="4979376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85B76FD0-08BD-4EAC-A78C-03FC2DF354FB}"/>
              </a:ext>
            </a:extLst>
          </p:cNvPr>
          <p:cNvSpPr/>
          <p:nvPr/>
        </p:nvSpPr>
        <p:spPr>
          <a:xfrm>
            <a:off x="213749" y="924531"/>
            <a:ext cx="588225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srgbClr val="002060"/>
                </a:solidFill>
              </a:rPr>
              <a:t>Outlier detection across numerical features (IQR / boxplots)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0EE32EB-92F5-4F87-80B4-FE430D7BE00E}"/>
              </a:ext>
            </a:extLst>
          </p:cNvPr>
          <p:cNvSpPr txBox="1"/>
          <p:nvPr/>
        </p:nvSpPr>
        <p:spPr>
          <a:xfrm>
            <a:off x="632011" y="6584434"/>
            <a:ext cx="914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8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81452539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4E1FFE59-026A-473E-A6C1-33BE905C1CD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4392"/>
          <a:stretch/>
        </p:blipFill>
        <p:spPr>
          <a:xfrm>
            <a:off x="11493298" y="120228"/>
            <a:ext cx="698703" cy="662205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C789F53C-0DA9-4701-8524-7428C456B9C0}"/>
              </a:ext>
            </a:extLst>
          </p:cNvPr>
          <p:cNvSpPr/>
          <p:nvPr/>
        </p:nvSpPr>
        <p:spPr>
          <a:xfrm>
            <a:off x="0" y="827509"/>
            <a:ext cx="12192000" cy="60959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240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8DC0CBA-66F4-4490-B6C3-E30F70CD7B7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27856" y="6292828"/>
            <a:ext cx="2464144" cy="317544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FBA78B91-1AE7-4F8C-97C7-A0C50D96305D}"/>
              </a:ext>
            </a:extLst>
          </p:cNvPr>
          <p:cNvSpPr/>
          <p:nvPr/>
        </p:nvSpPr>
        <p:spPr>
          <a:xfrm>
            <a:off x="0" y="6680200"/>
            <a:ext cx="12192000" cy="1778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2400" dirty="0"/>
          </a:p>
        </p:txBody>
      </p:sp>
      <p:sp>
        <p:nvSpPr>
          <p:cNvPr id="6" name="Text 1">
            <a:extLst>
              <a:ext uri="{FF2B5EF4-FFF2-40B4-BE49-F238E27FC236}">
                <a16:creationId xmlns:a16="http://schemas.microsoft.com/office/drawing/2014/main" id="{4BEB3655-4959-4283-BBCE-3F68CEC4998C}"/>
              </a:ext>
            </a:extLst>
          </p:cNvPr>
          <p:cNvSpPr/>
          <p:nvPr/>
        </p:nvSpPr>
        <p:spPr>
          <a:xfrm>
            <a:off x="435685" y="10131"/>
            <a:ext cx="113385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800" b="1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Dimensionality Reduction with PCA</a:t>
            </a:r>
            <a:endParaRPr lang="en-US" sz="2800" dirty="0">
              <a:solidFill>
                <a:srgbClr val="002060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457200" y="1060525"/>
            <a:ext cx="5577840" cy="5120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228600" indent="-228600" algn="l">
              <a:lnSpc>
                <a:spcPct val="108000"/>
              </a:lnSpc>
              <a:spcAft>
                <a:spcPts val="1400"/>
              </a:spcAft>
              <a:buFont typeface="Arial" pitchFamily="34" charset="0"/>
              <a:buChar char="•"/>
            </a:pPr>
            <a:r>
              <a:rPr sz="1500">
                <a:solidFill>
                  <a:srgbClr val="333333"/>
                </a:solidFill>
                <a:latin typeface="Calibri"/>
              </a:rPr>
              <a:t>Standardized features (35 dimensions after encoding) were fed into PCA.</a:t>
            </a:r>
          </a:p>
          <a:p>
            <a:pPr marL="228600" indent="-228600" algn="l">
              <a:lnSpc>
                <a:spcPct val="108000"/>
              </a:lnSpc>
              <a:spcAft>
                <a:spcPts val="1400"/>
              </a:spcAft>
              <a:buFont typeface="Arial" pitchFamily="34" charset="0"/>
              <a:buChar char="•"/>
            </a:pPr>
            <a:r>
              <a:rPr sz="1500">
                <a:solidFill>
                  <a:srgbClr val="333333"/>
                </a:solidFill>
                <a:latin typeface="Calibri"/>
              </a:rPr>
              <a:t>The scree plot shows 22 components are needed to retain 95% of the variance — roughly a 37% reduction in dimensionality.</a:t>
            </a:r>
          </a:p>
          <a:p>
            <a:pPr marL="228600" indent="-228600" algn="l">
              <a:lnSpc>
                <a:spcPct val="108000"/>
              </a:lnSpc>
              <a:spcAft>
                <a:spcPts val="1400"/>
              </a:spcAft>
              <a:buFont typeface="Arial" pitchFamily="34" charset="0"/>
              <a:buChar char="•"/>
            </a:pPr>
            <a:r>
              <a:rPr sz="1500">
                <a:solidFill>
                  <a:srgbClr val="333333"/>
                </a:solidFill>
                <a:latin typeface="Calibri"/>
              </a:rPr>
              <a:t>A 2D projection of the first two components visualizes separation between responders and non-responders.</a:t>
            </a:r>
          </a:p>
          <a:p>
            <a:pPr marL="228600" indent="-228600" algn="l">
              <a:lnSpc>
                <a:spcPct val="108000"/>
              </a:lnSpc>
              <a:spcAft>
                <a:spcPts val="1400"/>
              </a:spcAft>
              <a:buFont typeface="Arial" pitchFamily="34" charset="0"/>
              <a:buChar char="•"/>
            </a:pPr>
            <a:r>
              <a:rPr sz="1500">
                <a:solidFill>
                  <a:srgbClr val="333333"/>
                </a:solidFill>
                <a:latin typeface="Calibri"/>
              </a:rPr>
              <a:t>A loadings heatmap highlights which original features contribute most to each principal component.</a:t>
            </a:r>
          </a:p>
        </p:txBody>
      </p:sp>
      <p:pic>
        <p:nvPicPr>
          <p:cNvPr id="8" name="Picture 7" descr="scree_plo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0" y="1005840"/>
            <a:ext cx="3847807" cy="2606040"/>
          </a:xfrm>
          <a:prstGeom prst="rect">
            <a:avLst/>
          </a:prstGeom>
        </p:spPr>
      </p:pic>
      <p:pic>
        <p:nvPicPr>
          <p:cNvPr id="9" name="Picture 8" descr="pca2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37960" y="3712285"/>
            <a:ext cx="3208537" cy="260604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5FE84AEE-3969-424A-B0C6-AAB3786A8A33}"/>
              </a:ext>
            </a:extLst>
          </p:cNvPr>
          <p:cNvSpPr txBox="1"/>
          <p:nvPr/>
        </p:nvSpPr>
        <p:spPr>
          <a:xfrm>
            <a:off x="435685" y="6610372"/>
            <a:ext cx="914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9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46752465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4E1FFE59-026A-473E-A6C1-33BE905C1CD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4392"/>
          <a:stretch/>
        </p:blipFill>
        <p:spPr>
          <a:xfrm>
            <a:off x="11493298" y="120228"/>
            <a:ext cx="698703" cy="662205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C789F53C-0DA9-4701-8524-7428C456B9C0}"/>
              </a:ext>
            </a:extLst>
          </p:cNvPr>
          <p:cNvSpPr/>
          <p:nvPr/>
        </p:nvSpPr>
        <p:spPr>
          <a:xfrm>
            <a:off x="0" y="827509"/>
            <a:ext cx="12192000" cy="60959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240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8DC0CBA-66F4-4490-B6C3-E30F70CD7B7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27856" y="6292828"/>
            <a:ext cx="2464144" cy="317544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FBA78B91-1AE7-4F8C-97C7-A0C50D96305D}"/>
              </a:ext>
            </a:extLst>
          </p:cNvPr>
          <p:cNvSpPr/>
          <p:nvPr/>
        </p:nvSpPr>
        <p:spPr>
          <a:xfrm>
            <a:off x="0" y="6680200"/>
            <a:ext cx="12192000" cy="1778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2400" dirty="0"/>
          </a:p>
        </p:txBody>
      </p:sp>
      <p:sp>
        <p:nvSpPr>
          <p:cNvPr id="6" name="Text 1">
            <a:extLst>
              <a:ext uri="{FF2B5EF4-FFF2-40B4-BE49-F238E27FC236}">
                <a16:creationId xmlns:a16="http://schemas.microsoft.com/office/drawing/2014/main" id="{4BEB3655-4959-4283-BBCE-3F68CEC4998C}"/>
              </a:ext>
            </a:extLst>
          </p:cNvPr>
          <p:cNvSpPr/>
          <p:nvPr/>
        </p:nvSpPr>
        <p:spPr>
          <a:xfrm>
            <a:off x="435685" y="10131"/>
            <a:ext cx="113385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800" b="1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Predictive Modeling — Logistic Regression</a:t>
            </a:r>
            <a:endParaRPr lang="en-US" sz="2800" dirty="0">
              <a:solidFill>
                <a:srgbClr val="002060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457200" y="1051560"/>
            <a:ext cx="11274552" cy="1737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228600" indent="-228600" algn="l">
              <a:lnSpc>
                <a:spcPct val="108000"/>
              </a:lnSpc>
              <a:spcAft>
                <a:spcPts val="1400"/>
              </a:spcAft>
              <a:buFont typeface="Arial" pitchFamily="34" charset="0"/>
              <a:buChar char="•"/>
            </a:pPr>
            <a:r>
              <a:rPr sz="1700">
                <a:solidFill>
                  <a:srgbClr val="333333"/>
                </a:solidFill>
                <a:latin typeface="Calibri"/>
              </a:rPr>
              <a:t>Logistic Regression was trained twice: once on all 35 scaled features, and once on the 22 PCA components.</a:t>
            </a:r>
          </a:p>
          <a:p>
            <a:pPr marL="228600" indent="-228600" algn="l">
              <a:lnSpc>
                <a:spcPct val="108000"/>
              </a:lnSpc>
              <a:spcAft>
                <a:spcPts val="1400"/>
              </a:spcAft>
              <a:buFont typeface="Arial" pitchFamily="34" charset="0"/>
              <a:buChar char="•"/>
            </a:pPr>
            <a:r>
              <a:rPr sz="1700">
                <a:solidFill>
                  <a:srgbClr val="333333"/>
                </a:solidFill>
                <a:latin typeface="Calibri"/>
              </a:rPr>
              <a:t>PCA cut the feature space by ~37% with only a 0.3 percentage-point drop in accuracy — a strong trade-off for a simpler, faster model.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108960"/>
            <a:ext cx="5120640" cy="2468880"/>
          </a:xfrm>
          <a:prstGeom prst="roundRect">
            <a:avLst>
              <a:gd name="adj" fmla="val 6000"/>
            </a:avLst>
          </a:prstGeom>
          <a:solidFill>
            <a:srgbClr val="F2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40080" y="3794760"/>
            <a:ext cx="512064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>
                <a:solidFill>
                  <a:srgbClr val="1C7293"/>
                </a:solidFill>
                <a:latin typeface="Calibri"/>
              </a:rPr>
              <a:t>91.2%</a:t>
            </a:r>
          </a:p>
          <a:p>
            <a:pPr algn="ctr"/>
            <a:r>
              <a:rPr sz="1200">
                <a:solidFill>
                  <a:srgbClr val="333333"/>
                </a:solidFill>
                <a:latin typeface="Calibri"/>
              </a:rPr>
              <a:t>Accuracy — original 35 features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3108960"/>
            <a:ext cx="5120640" cy="2468880"/>
          </a:xfrm>
          <a:prstGeom prst="roundRect">
            <a:avLst>
              <a:gd name="adj" fmla="val 6000"/>
            </a:avLst>
          </a:prstGeom>
          <a:solidFill>
            <a:srgbClr val="F2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309360" y="3794760"/>
            <a:ext cx="512064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>
                <a:solidFill>
                  <a:srgbClr val="1C7293"/>
                </a:solidFill>
                <a:latin typeface="Calibri"/>
              </a:rPr>
              <a:t>90.9%</a:t>
            </a:r>
          </a:p>
          <a:p>
            <a:pPr algn="ctr"/>
            <a:r>
              <a:rPr sz="1200">
                <a:solidFill>
                  <a:srgbClr val="333333"/>
                </a:solidFill>
                <a:latin typeface="Calibri"/>
              </a:rPr>
              <a:t>Accuracy — 22 PCA components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9D030E6-291B-4615-8085-5357D20AECB6}"/>
              </a:ext>
            </a:extLst>
          </p:cNvPr>
          <p:cNvSpPr txBox="1"/>
          <p:nvPr/>
        </p:nvSpPr>
        <p:spPr>
          <a:xfrm>
            <a:off x="766482" y="6584434"/>
            <a:ext cx="914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10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46752465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4E1FFE59-026A-473E-A6C1-33BE905C1CD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4392"/>
          <a:stretch/>
        </p:blipFill>
        <p:spPr>
          <a:xfrm>
            <a:off x="11493298" y="120228"/>
            <a:ext cx="698703" cy="662205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C789F53C-0DA9-4701-8524-7428C456B9C0}"/>
              </a:ext>
            </a:extLst>
          </p:cNvPr>
          <p:cNvSpPr/>
          <p:nvPr/>
        </p:nvSpPr>
        <p:spPr>
          <a:xfrm>
            <a:off x="0" y="827509"/>
            <a:ext cx="12192000" cy="60959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240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8DC0CBA-66F4-4490-B6C3-E30F70CD7B7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27856" y="6292828"/>
            <a:ext cx="2464144" cy="317544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FBA78B91-1AE7-4F8C-97C7-A0C50D96305D}"/>
              </a:ext>
            </a:extLst>
          </p:cNvPr>
          <p:cNvSpPr/>
          <p:nvPr/>
        </p:nvSpPr>
        <p:spPr>
          <a:xfrm>
            <a:off x="0" y="6680200"/>
            <a:ext cx="12192000" cy="1778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2400" dirty="0"/>
          </a:p>
        </p:txBody>
      </p:sp>
      <p:sp>
        <p:nvSpPr>
          <p:cNvPr id="6" name="Text 1">
            <a:extLst>
              <a:ext uri="{FF2B5EF4-FFF2-40B4-BE49-F238E27FC236}">
                <a16:creationId xmlns:a16="http://schemas.microsoft.com/office/drawing/2014/main" id="{4BEB3655-4959-4283-BBCE-3F68CEC4998C}"/>
              </a:ext>
            </a:extLst>
          </p:cNvPr>
          <p:cNvSpPr/>
          <p:nvPr/>
        </p:nvSpPr>
        <p:spPr>
          <a:xfrm>
            <a:off x="435685" y="10131"/>
            <a:ext cx="113385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800" b="1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Gradient Descent Optimization — From Scratch</a:t>
            </a:r>
            <a:endParaRPr lang="en-US" sz="2800" dirty="0">
              <a:solidFill>
                <a:srgbClr val="002060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457200" y="1051560"/>
            <a:ext cx="5760720" cy="5120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228600" indent="-228600" algn="l">
              <a:lnSpc>
                <a:spcPct val="108000"/>
              </a:lnSpc>
              <a:spcAft>
                <a:spcPts val="1400"/>
              </a:spcAft>
              <a:buFont typeface="Arial" pitchFamily="34" charset="0"/>
              <a:buChar char="•"/>
            </a:pPr>
            <a:r>
              <a:rPr sz="1500">
                <a:solidFill>
                  <a:srgbClr val="333333"/>
                </a:solidFill>
                <a:latin typeface="Calibri"/>
              </a:rPr>
              <a:t>Implemented Batch, Stochastic (SGD), and Mini-Batch Gradient Descent from scratch to fit a simple linear model (Income → MntWines).</a:t>
            </a:r>
          </a:p>
          <a:p>
            <a:pPr marL="228600" indent="-228600" algn="l">
              <a:lnSpc>
                <a:spcPct val="108000"/>
              </a:lnSpc>
              <a:spcAft>
                <a:spcPts val="1400"/>
              </a:spcAft>
              <a:buFont typeface="Arial" pitchFamily="34" charset="0"/>
              <a:buChar char="•"/>
            </a:pPr>
            <a:r>
              <a:rPr sz="1500">
                <a:solidFill>
                  <a:srgbClr val="333333"/>
                </a:solidFill>
                <a:latin typeface="Calibri"/>
              </a:rPr>
              <a:t>Batch GD is smooth but makes slower per-epoch progress; SGD is noisier but often converges faster in wall-clock time; Mini-Batch balances both.</a:t>
            </a:r>
          </a:p>
          <a:p>
            <a:pPr marL="228600" indent="-228600" algn="l">
              <a:lnSpc>
                <a:spcPct val="108000"/>
              </a:lnSpc>
              <a:spcAft>
                <a:spcPts val="1400"/>
              </a:spcAft>
              <a:buFont typeface="Arial" pitchFamily="34" charset="0"/>
              <a:buChar char="•"/>
            </a:pPr>
            <a:r>
              <a:rPr sz="1500">
                <a:solidFill>
                  <a:srgbClr val="333333"/>
                </a:solidFill>
                <a:latin typeface="Calibri"/>
              </a:rPr>
              <a:t>Also studied the effect of learning rate and batch size on convergence stability.</a:t>
            </a:r>
          </a:p>
          <a:p>
            <a:pPr marL="228600" indent="-228600" algn="l">
              <a:lnSpc>
                <a:spcPct val="108000"/>
              </a:lnSpc>
              <a:spcAft>
                <a:spcPts val="1400"/>
              </a:spcAft>
              <a:buFont typeface="Arial" pitchFamily="34" charset="0"/>
              <a:buChar char="•"/>
            </a:pPr>
            <a:r>
              <a:rPr sz="1500">
                <a:solidFill>
                  <a:srgbClr val="333333"/>
                </a:solidFill>
                <a:latin typeface="Calibri"/>
              </a:rPr>
              <a:t>The custom SGD implementation closely matched scikit-learn's SGDRegressor coefficients, validating the from-scratch code.</a:t>
            </a:r>
          </a:p>
        </p:txBody>
      </p:sp>
      <p:pic>
        <p:nvPicPr>
          <p:cNvPr id="8" name="Picture 7" descr="gd_convergenc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0" y="1371600"/>
            <a:ext cx="5212080" cy="3655835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F6BBE4DA-2B64-4165-A1A2-B7F6AE2AA5E1}"/>
              </a:ext>
            </a:extLst>
          </p:cNvPr>
          <p:cNvSpPr txBox="1"/>
          <p:nvPr/>
        </p:nvSpPr>
        <p:spPr>
          <a:xfrm>
            <a:off x="775447" y="6584434"/>
            <a:ext cx="914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11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46752465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4E1FFE59-026A-473E-A6C1-33BE905C1CD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4392"/>
          <a:stretch/>
        </p:blipFill>
        <p:spPr>
          <a:xfrm>
            <a:off x="11493298" y="120228"/>
            <a:ext cx="698703" cy="662205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C789F53C-0DA9-4701-8524-7428C456B9C0}"/>
              </a:ext>
            </a:extLst>
          </p:cNvPr>
          <p:cNvSpPr/>
          <p:nvPr/>
        </p:nvSpPr>
        <p:spPr>
          <a:xfrm>
            <a:off x="0" y="827509"/>
            <a:ext cx="12192000" cy="60959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240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8DC0CBA-66F4-4490-B6C3-E30F70CD7B7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27856" y="6292828"/>
            <a:ext cx="2464144" cy="317544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FBA78B91-1AE7-4F8C-97C7-A0C50D96305D}"/>
              </a:ext>
            </a:extLst>
          </p:cNvPr>
          <p:cNvSpPr/>
          <p:nvPr/>
        </p:nvSpPr>
        <p:spPr>
          <a:xfrm>
            <a:off x="0" y="6680200"/>
            <a:ext cx="12192000" cy="1778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2400" dirty="0"/>
          </a:p>
        </p:txBody>
      </p:sp>
      <p:sp>
        <p:nvSpPr>
          <p:cNvPr id="6" name="Text 1">
            <a:extLst>
              <a:ext uri="{FF2B5EF4-FFF2-40B4-BE49-F238E27FC236}">
                <a16:creationId xmlns:a16="http://schemas.microsoft.com/office/drawing/2014/main" id="{4BEB3655-4959-4283-BBCE-3F68CEC4998C}"/>
              </a:ext>
            </a:extLst>
          </p:cNvPr>
          <p:cNvSpPr/>
          <p:nvPr/>
        </p:nvSpPr>
        <p:spPr>
          <a:xfrm>
            <a:off x="435685" y="10131"/>
            <a:ext cx="113385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800" b="1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Summary</a:t>
            </a:r>
            <a:endParaRPr lang="en-US" sz="2800" dirty="0">
              <a:solidFill>
                <a:srgbClr val="002060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457200" y="1051560"/>
            <a:ext cx="11274552" cy="1737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228600" indent="-228600" algn="l">
              <a:lnSpc>
                <a:spcPct val="108000"/>
              </a:lnSpc>
              <a:spcAft>
                <a:spcPts val="1400"/>
              </a:spcAft>
              <a:buFont typeface="Arial" pitchFamily="34" charset="0"/>
              <a:buChar char="•"/>
            </a:pPr>
            <a:r>
              <a:rPr sz="1700">
                <a:solidFill>
                  <a:srgbClr val="333333"/>
                </a:solidFill>
                <a:latin typeface="Calibri"/>
              </a:rPr>
              <a:t>Logistic Regression predicted campaign Response with ~91% accuracy on a held-out test set, whether trained on all 35 scaled features or the 22 PCA components.</a:t>
            </a:r>
          </a:p>
          <a:p>
            <a:pPr marL="228600" indent="-228600" algn="l">
              <a:lnSpc>
                <a:spcPct val="108000"/>
              </a:lnSpc>
              <a:spcAft>
                <a:spcPts val="1400"/>
              </a:spcAft>
              <a:buFont typeface="Arial" pitchFamily="34" charset="0"/>
              <a:buChar char="•"/>
            </a:pPr>
            <a:r>
              <a:rPr sz="1700">
                <a:solidFill>
                  <a:srgbClr val="333333"/>
                </a:solidFill>
                <a:latin typeface="Calibri"/>
              </a:rPr>
              <a:t>The from-scratch Batch, SGD, and Mini-Batch Gradient Descent implementations converged to coefficients closely matching scikit-learn's SGDRegressor (0.71 vs. 0.46–0.72), confirming the custom code is correct.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108960"/>
            <a:ext cx="5120640" cy="2468880"/>
          </a:xfrm>
          <a:prstGeom prst="roundRect">
            <a:avLst>
              <a:gd name="adj" fmla="val 6000"/>
            </a:avLst>
          </a:prstGeom>
          <a:solidFill>
            <a:srgbClr val="F2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40080" y="3794760"/>
            <a:ext cx="512064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>
                <a:solidFill>
                  <a:srgbClr val="1C7293"/>
                </a:solidFill>
                <a:latin typeface="Calibri"/>
              </a:rPr>
              <a:t>91.2%</a:t>
            </a:r>
          </a:p>
          <a:p>
            <a:pPr algn="ctr"/>
            <a:r>
              <a:rPr sz="1200">
                <a:solidFill>
                  <a:srgbClr val="333333"/>
                </a:solidFill>
                <a:latin typeface="Calibri"/>
              </a:rPr>
              <a:t>Peak test accuracy (Logistic Regression)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3108960"/>
            <a:ext cx="5120640" cy="2468880"/>
          </a:xfrm>
          <a:prstGeom prst="roundRect">
            <a:avLst>
              <a:gd name="adj" fmla="val 6000"/>
            </a:avLst>
          </a:prstGeom>
          <a:solidFill>
            <a:srgbClr val="F2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309360" y="3794760"/>
            <a:ext cx="512064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>
                <a:solidFill>
                  <a:srgbClr val="1C7293"/>
                </a:solidFill>
                <a:latin typeface="Calibri"/>
              </a:rPr>
              <a:t>22 / 35</a:t>
            </a:r>
          </a:p>
          <a:p>
            <a:pPr algn="ctr"/>
            <a:r>
              <a:rPr sz="1200">
                <a:solidFill>
                  <a:srgbClr val="333333"/>
                </a:solidFill>
                <a:latin typeface="Calibri"/>
              </a:rPr>
              <a:t>Features retained by PCA (95% variance)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9D030E6-291B-4615-8085-5357D20AECB6}"/>
              </a:ext>
            </a:extLst>
          </p:cNvPr>
          <p:cNvSpPr txBox="1"/>
          <p:nvPr/>
        </p:nvSpPr>
        <p:spPr>
          <a:xfrm>
            <a:off x="766482" y="6584434"/>
            <a:ext cx="914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12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46752465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4E1FFE59-026A-473E-A6C1-33BE905C1CD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4392"/>
          <a:stretch/>
        </p:blipFill>
        <p:spPr>
          <a:xfrm>
            <a:off x="11493298" y="120228"/>
            <a:ext cx="698703" cy="662205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C789F53C-0DA9-4701-8524-7428C456B9C0}"/>
              </a:ext>
            </a:extLst>
          </p:cNvPr>
          <p:cNvSpPr/>
          <p:nvPr/>
        </p:nvSpPr>
        <p:spPr>
          <a:xfrm>
            <a:off x="0" y="827509"/>
            <a:ext cx="12192000" cy="60959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240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8DC0CBA-66F4-4490-B6C3-E30F70CD7B7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27856" y="6292828"/>
            <a:ext cx="2464144" cy="317544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FBA78B91-1AE7-4F8C-97C7-A0C50D96305D}"/>
              </a:ext>
            </a:extLst>
          </p:cNvPr>
          <p:cNvSpPr/>
          <p:nvPr/>
        </p:nvSpPr>
        <p:spPr>
          <a:xfrm>
            <a:off x="0" y="6680200"/>
            <a:ext cx="12192000" cy="1778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2400" dirty="0"/>
          </a:p>
        </p:txBody>
      </p:sp>
      <p:sp>
        <p:nvSpPr>
          <p:cNvPr id="6" name="Text 1">
            <a:extLst>
              <a:ext uri="{FF2B5EF4-FFF2-40B4-BE49-F238E27FC236}">
                <a16:creationId xmlns:a16="http://schemas.microsoft.com/office/drawing/2014/main" id="{4BEB3655-4959-4283-BBCE-3F68CEC4998C}"/>
              </a:ext>
            </a:extLst>
          </p:cNvPr>
          <p:cNvSpPr/>
          <p:nvPr/>
        </p:nvSpPr>
        <p:spPr>
          <a:xfrm>
            <a:off x="435685" y="10131"/>
            <a:ext cx="113385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800" b="1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2800" dirty="0">
              <a:solidFill>
                <a:srgbClr val="002060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457200" y="1051560"/>
            <a:ext cx="11274552" cy="255076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228600" indent="-228600" algn="l">
              <a:lnSpc>
                <a:spcPct val="108000"/>
              </a:lnSpc>
              <a:spcAft>
                <a:spcPts val="1300"/>
              </a:spcAft>
              <a:buFont typeface="Arial" pitchFamily="34" charset="0"/>
              <a:buChar char="•"/>
            </a:pPr>
            <a:r>
              <a:rPr sz="1550" dirty="0">
                <a:solidFill>
                  <a:srgbClr val="333333"/>
                </a:solidFill>
                <a:latin typeface="Calibri"/>
              </a:rPr>
              <a:t>This project delivered a complete pipeline — from raw customer data to a validated predictive model — showing that EDA, preprocessing, PCA, and Logistic Regression combine effectively for campaign-response prediction.</a:t>
            </a:r>
          </a:p>
          <a:p>
            <a:pPr marL="228600" indent="-228600" algn="l">
              <a:lnSpc>
                <a:spcPct val="108000"/>
              </a:lnSpc>
              <a:spcAft>
                <a:spcPts val="1300"/>
              </a:spcAft>
              <a:buFont typeface="Arial" pitchFamily="34" charset="0"/>
              <a:buChar char="•"/>
            </a:pPr>
            <a:r>
              <a:rPr sz="1550" dirty="0">
                <a:solidFill>
                  <a:srgbClr val="333333"/>
                </a:solidFill>
                <a:latin typeface="Calibri"/>
              </a:rPr>
              <a:t>Dimensionality reduction via PCA proved a strong trade-off: a ~37% smaller feature space cost almost no accuracy, making the model faster and simpler to maintain.</a:t>
            </a:r>
          </a:p>
          <a:p>
            <a:pPr marL="228600" indent="-228600" algn="l">
              <a:lnSpc>
                <a:spcPct val="108000"/>
              </a:lnSpc>
              <a:spcAft>
                <a:spcPts val="1300"/>
              </a:spcAft>
              <a:buFont typeface="Arial" pitchFamily="34" charset="0"/>
              <a:buChar char="•"/>
            </a:pPr>
            <a:r>
              <a:rPr sz="1550" dirty="0">
                <a:solidFill>
                  <a:srgbClr val="333333"/>
                </a:solidFill>
                <a:latin typeface="Calibri"/>
              </a:rPr>
              <a:t>The from-scratch Gradient Descent study confirmed Mini-Batch GD's balance of speed and stability — reinforcing why it is the default in most production ML libraries.</a:t>
            </a:r>
          </a:p>
          <a:p>
            <a:pPr marL="228600" indent="-228600" algn="l">
              <a:lnSpc>
                <a:spcPct val="108000"/>
              </a:lnSpc>
              <a:spcAft>
                <a:spcPts val="1300"/>
              </a:spcAft>
              <a:buFont typeface="Arial" pitchFamily="34" charset="0"/>
              <a:buChar char="•"/>
            </a:pPr>
            <a:r>
              <a:rPr sz="1550" dirty="0">
                <a:solidFill>
                  <a:srgbClr val="333333"/>
                </a:solidFill>
                <a:latin typeface="Calibri"/>
              </a:rPr>
              <a:t>Limitations: the response class is imbalanced and results rest on a single train/test split — cross-validation and class-balancing (e.g. SMOTE) would strengthen the evaluation.</a:t>
            </a:r>
          </a:p>
          <a:p>
            <a:pPr marL="228600" indent="-228600" algn="l">
              <a:lnSpc>
                <a:spcPct val="108000"/>
              </a:lnSpc>
              <a:spcAft>
                <a:spcPts val="1300"/>
              </a:spcAft>
              <a:buFont typeface="Arial" pitchFamily="34" charset="0"/>
              <a:buChar char="•"/>
            </a:pPr>
            <a:r>
              <a:rPr sz="1550" dirty="0">
                <a:solidFill>
                  <a:srgbClr val="333333"/>
                </a:solidFill>
                <a:latin typeface="Calibri"/>
              </a:rPr>
              <a:t>Future work: try ensemble models (Random Forest, XGBoost), add customer segmentation via clustering, and deploy the pipeline as a real-time campaign-targeting tool.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DB323BA-AB99-45AA-ABDD-587564321145}"/>
              </a:ext>
            </a:extLst>
          </p:cNvPr>
          <p:cNvSpPr txBox="1"/>
          <p:nvPr/>
        </p:nvSpPr>
        <p:spPr>
          <a:xfrm>
            <a:off x="632011" y="6584434"/>
            <a:ext cx="914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13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46752465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4E1FFE59-026A-473E-A6C1-33BE905C1CD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4392"/>
          <a:stretch/>
        </p:blipFill>
        <p:spPr>
          <a:xfrm>
            <a:off x="11493298" y="120228"/>
            <a:ext cx="698703" cy="662205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C789F53C-0DA9-4701-8524-7428C456B9C0}"/>
              </a:ext>
            </a:extLst>
          </p:cNvPr>
          <p:cNvSpPr/>
          <p:nvPr/>
        </p:nvSpPr>
        <p:spPr>
          <a:xfrm>
            <a:off x="0" y="827509"/>
            <a:ext cx="12192000" cy="60959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240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8DC0CBA-66F4-4490-B6C3-E30F70CD7B7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27856" y="6292828"/>
            <a:ext cx="2464144" cy="317544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FBA78B91-1AE7-4F8C-97C7-A0C50D96305D}"/>
              </a:ext>
            </a:extLst>
          </p:cNvPr>
          <p:cNvSpPr/>
          <p:nvPr/>
        </p:nvSpPr>
        <p:spPr>
          <a:xfrm>
            <a:off x="0" y="6680200"/>
            <a:ext cx="12192000" cy="1778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2400" dirty="0"/>
          </a:p>
        </p:txBody>
      </p:sp>
      <p:sp>
        <p:nvSpPr>
          <p:cNvPr id="6" name="Text 1">
            <a:extLst>
              <a:ext uri="{FF2B5EF4-FFF2-40B4-BE49-F238E27FC236}">
                <a16:creationId xmlns:a16="http://schemas.microsoft.com/office/drawing/2014/main" id="{4BEB3655-4959-4283-BBCE-3F68CEC4998C}"/>
              </a:ext>
            </a:extLst>
          </p:cNvPr>
          <p:cNvSpPr/>
          <p:nvPr/>
        </p:nvSpPr>
        <p:spPr>
          <a:xfrm>
            <a:off x="426720" y="10131"/>
            <a:ext cx="113385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800" b="1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References</a:t>
            </a:r>
            <a:endParaRPr lang="en-US" sz="2800" dirty="0">
              <a:solidFill>
                <a:srgbClr val="002060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457200" y="1051560"/>
            <a:ext cx="11274552" cy="5120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228600" indent="-228600" algn="l">
              <a:lnSpc>
                <a:spcPct val="108000"/>
              </a:lnSpc>
              <a:spcAft>
                <a:spcPts val="1600"/>
              </a:spcAft>
              <a:buFont typeface="Arial" pitchFamily="34" charset="0"/>
              <a:buChar char="•"/>
            </a:pPr>
            <a:r>
              <a:rPr sz="1600">
                <a:solidFill>
                  <a:srgbClr val="333333"/>
                </a:solidFill>
                <a:latin typeface="Calibri"/>
              </a:rPr>
              <a:t>Dataset: “Customer Personality Analysis / Marketing Campaign Data”, Kaggle.</a:t>
            </a:r>
          </a:p>
          <a:p>
            <a:pPr marL="228600" indent="-228600" algn="l">
              <a:lnSpc>
                <a:spcPct val="108000"/>
              </a:lnSpc>
              <a:spcAft>
                <a:spcPts val="1600"/>
              </a:spcAft>
              <a:buFont typeface="Arial" pitchFamily="34" charset="0"/>
              <a:buChar char="•"/>
            </a:pPr>
            <a:r>
              <a:rPr sz="1600">
                <a:solidFill>
                  <a:srgbClr val="333333"/>
                </a:solidFill>
                <a:latin typeface="Calibri"/>
              </a:rPr>
              <a:t>Pedregosa, F. et al. “Scikit-learn: Machine Learning in Python.” Journal of Machine Learning Research, 2011.</a:t>
            </a:r>
          </a:p>
          <a:p>
            <a:pPr marL="228600" indent="-228600" algn="l">
              <a:lnSpc>
                <a:spcPct val="108000"/>
              </a:lnSpc>
              <a:spcAft>
                <a:spcPts val="1600"/>
              </a:spcAft>
              <a:buFont typeface="Arial" pitchFamily="34" charset="0"/>
              <a:buChar char="•"/>
            </a:pPr>
            <a:r>
              <a:rPr sz="1600">
                <a:solidFill>
                  <a:srgbClr val="333333"/>
                </a:solidFill>
                <a:latin typeface="Calibri"/>
              </a:rPr>
              <a:t>Hunter, J. D. “Matplotlib: A 2D Graphics Environment.” Computing in Science &amp; Engineering, 2007.</a:t>
            </a:r>
          </a:p>
          <a:p>
            <a:pPr marL="228600" indent="-228600" algn="l">
              <a:lnSpc>
                <a:spcPct val="108000"/>
              </a:lnSpc>
              <a:spcAft>
                <a:spcPts val="1600"/>
              </a:spcAft>
              <a:buFont typeface="Arial" pitchFamily="34" charset="0"/>
              <a:buChar char="•"/>
            </a:pPr>
            <a:r>
              <a:rPr sz="1600">
                <a:solidFill>
                  <a:srgbClr val="333333"/>
                </a:solidFill>
                <a:latin typeface="Calibri"/>
              </a:rPr>
              <a:t>Waskom, M. “seaborn: Statistical Data Visualization.” Journal of Open Source Software, 2021.</a:t>
            </a:r>
          </a:p>
          <a:p>
            <a:pPr marL="228600" indent="-228600" algn="l">
              <a:lnSpc>
                <a:spcPct val="108000"/>
              </a:lnSpc>
              <a:spcAft>
                <a:spcPts val="1600"/>
              </a:spcAft>
              <a:buFont typeface="Arial" pitchFamily="34" charset="0"/>
              <a:buChar char="•"/>
            </a:pPr>
            <a:r>
              <a:rPr sz="1600">
                <a:solidFill>
                  <a:srgbClr val="333333"/>
                </a:solidFill>
                <a:latin typeface="Calibri"/>
              </a:rPr>
              <a:t>McKinney, W. “Data Structures for Statistical Computing in Python.” Proc. of the 9th Python in Science Conf., 2010.</a:t>
            </a:r>
          </a:p>
          <a:p>
            <a:pPr marL="228600" indent="-228600" algn="l">
              <a:lnSpc>
                <a:spcPct val="108000"/>
              </a:lnSpc>
              <a:spcAft>
                <a:spcPts val="1600"/>
              </a:spcAft>
              <a:buFont typeface="Arial" pitchFamily="34" charset="0"/>
              <a:buChar char="•"/>
            </a:pPr>
            <a:r>
              <a:rPr sz="1600">
                <a:solidFill>
                  <a:srgbClr val="333333"/>
                </a:solidFill>
                <a:latin typeface="Calibri"/>
              </a:rPr>
              <a:t>Jolliffe, I. T. “Principal Component Analysis.” Springer Series in Statistics, 2002.</a:t>
            </a:r>
          </a:p>
        </p:txBody>
      </p:sp>
    </p:spTree>
    <p:extLst>
      <p:ext uri="{BB962C8B-B14F-4D97-AF65-F5344CB8AC3E}">
        <p14:creationId xmlns:p14="http://schemas.microsoft.com/office/powerpoint/2010/main" val="375136091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104</TotalTime>
  <Words>1193</Words>
  <Application>Microsoft Office PowerPoint</Application>
  <PresentationFormat>Widescreen</PresentationFormat>
  <Paragraphs>97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1" baseType="lpstr">
      <vt:lpstr>Arial</vt:lpstr>
      <vt:lpstr>Calibri</vt:lpstr>
      <vt:lpstr>Calibri Light</vt:lpstr>
      <vt:lpstr>Georgia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Dell</dc:creator>
  <cp:lastModifiedBy>user2</cp:lastModifiedBy>
  <cp:revision>9</cp:revision>
  <dcterms:created xsi:type="dcterms:W3CDTF">2026-05-21T06:29:53Z</dcterms:created>
  <dcterms:modified xsi:type="dcterms:W3CDTF">2026-07-13T08:34:17Z</dcterms:modified>
</cp:coreProperties>
</file>