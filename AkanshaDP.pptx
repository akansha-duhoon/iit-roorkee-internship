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14"/>
  </p:notesMasterIdLst>
  <p:sldIdLst>
    <p:sldId id="281" r:id="rId2"/>
    <p:sldId id="326" r:id="rId3"/>
    <p:sldId id="322" r:id="rId4"/>
    <p:sldId id="327" r:id="rId5"/>
    <p:sldId id="328" r:id="rId6"/>
    <p:sldId id="329" r:id="rId7"/>
    <p:sldId id="331" r:id="rId8"/>
    <p:sldId id="332" r:id="rId9"/>
    <p:sldId id="333" r:id="rId10"/>
    <p:sldId id="334" r:id="rId11"/>
    <p:sldId id="323" r:id="rId12"/>
    <p:sldId id="33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77062-296A-4921-A856-F385AC8ECB9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CEADE0-ED39-4DE7-AC34-C2EBDB4FE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26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EADE0-ED39-4DE7-AC34-C2EBDB4FE80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419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8BE71-3083-4E05-9B96-B62D7A011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1D38DC-5B77-4A04-8D82-6B327B2C4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C40FB-C6CA-4855-B964-4A1865226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0F91F-74A6-4D78-84C2-70D03B3A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568A1-B6F6-442E-9A8D-4282DFF0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078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437F1-BF1E-485E-AD20-657213A1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366A3-D6B8-4225-A583-F8B185D70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3E0AD-B849-4AC6-B8D0-9790E8A20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F1BBD-5782-4B88-926F-3B5EDA396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98114-3150-4F50-A0CF-BBD2D2FE2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506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6F81E-0E71-44AE-903B-A6C0477CE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AB6F9-33AC-4BD7-81A3-5F7CF4071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EDD4C-EE56-4F5C-9A88-DEC22A2DE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0E9D5-1129-4E03-A40D-A2BA65D9E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F18C2-4631-42F5-8507-532C9D713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490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FCABB-F186-49FB-9B76-9A9A65F63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19FFB-8EC5-4903-B508-BBC20ADF02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72615-24EC-4661-87E5-3D5339AFD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D4406-56A5-40E6-8C37-8DDE96628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E991B-B4AC-4A1A-A13F-3A064B9F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54DA0-30BC-4BDD-84BC-CE9458636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600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4F0AA-D36D-4698-92D2-A4DDE449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8F9E7-DE14-49FD-9688-D8A8060EE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AD8C0-AC28-4036-A278-457E60A93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7F8F73-66BE-41C5-9ED9-6989EBC9C1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6D7B8B-D7B9-455C-A87D-9ED83BA23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3FCD8C-AF58-487A-BC66-BB03A8AA3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36DEF8-F23D-4195-A759-63151ACB2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2E36D2-6453-4173-A00B-1633B1625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928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3B80-6F1D-4DBA-A42F-60A16FE9D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E85D1C-60BD-464A-9D5F-CD8589EDB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CF1201-4C81-4245-B813-BDB9D46F4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E90E81-5A0E-4FBD-9356-5F54AFD3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40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14FA63-303E-48D9-BBBE-4E9870CB1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94EECF-798D-4BDA-8CE6-62AC48546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90BA3-C470-4DEA-95EE-620B7417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922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168D-048C-4AEB-A737-D414D89B3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50252-421C-4396-81BC-3B3696AA1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64E4E-8F18-438B-8C16-59AF8D75B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A9968-E801-402D-856A-594C69CD4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37D5E-2123-4C98-9561-A9AD31D6A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57BF0-018E-4B80-B0CF-1919625A6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190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76E8-39FF-45F1-8497-7C324B06E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1F82EA-F512-46B4-9300-F173B66B28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B8089-7654-4EB1-82A7-D6A8250C4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D61BD4-94D9-4B0B-8843-FD31B449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894E7-73C3-4C52-90EA-212D3902E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95C9C-B2ED-40F7-938E-E4AA3125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504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D2737-56B8-44D7-A432-238FEBD7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1B901-BECE-43DA-8F7B-9B3B89825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0A75B-82C7-47E7-9DF7-B1F32E64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8EE6B-2276-42F1-93F4-A69A9B580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956EB-E709-4086-8135-6F126FD4D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506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CFEF7-822D-4CAC-9BED-B8B6F6B350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857E4-DA5C-4F66-BD58-54C49D388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2CD82-6C8A-47B1-BA75-2BD4FF22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9E298-DE49-4D09-B5F9-3E7F898C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7E1CC-3938-4566-929E-4DA509421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767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426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701140-63F5-4E31-9D04-AE55A59AF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0F9BF-3489-450E-BBE5-65C4B1E26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C6048-C6EC-4FE3-8B29-8232630B8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F5DC5-E8E1-4A4B-A884-6C770968C94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4FFF9-94DE-4A4A-83A7-698CE85EA7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99730-3D8E-46F3-836D-55EF1FA44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56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latin typeface="Georgia" pitchFamily="34" charset="0"/>
              </a:rPr>
              <a:t>Data Preprocessing In Machine Learning</a:t>
            </a:r>
            <a:endParaRPr lang="en-US" sz="2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</a:t>
            </a:r>
            <a:r>
              <a:rPr lang="en-US" sz="1467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Akansha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67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Duhoon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Ms. Riya 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A7A720-FF6B-4710-8A71-ED74E058C41C}"/>
              </a:ext>
            </a:extLst>
          </p:cNvPr>
          <p:cNvSpPr txBox="1"/>
          <p:nvPr/>
        </p:nvSpPr>
        <p:spPr>
          <a:xfrm>
            <a:off x="443752" y="181178"/>
            <a:ext cx="1958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Contents</a:t>
            </a:r>
            <a:endParaRPr lang="en-IN" sz="3600" b="1" dirty="0"/>
          </a:p>
        </p:txBody>
      </p:sp>
      <p:pic>
        <p:nvPicPr>
          <p:cNvPr id="12" name="Graphic 11" descr="Arrow Slight curve">
            <a:extLst>
              <a:ext uri="{FF2B5EF4-FFF2-40B4-BE49-F238E27FC236}">
                <a16:creationId xmlns:a16="http://schemas.microsoft.com/office/drawing/2014/main" id="{15DF41EA-EAE6-4883-8EB6-E0822845CC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711" y="1094514"/>
            <a:ext cx="481406" cy="481406"/>
          </a:xfrm>
          <a:prstGeom prst="rect">
            <a:avLst/>
          </a:prstGeom>
        </p:spPr>
      </p:pic>
      <p:pic>
        <p:nvPicPr>
          <p:cNvPr id="13" name="Graphic 12" descr="Arrow Slight curve">
            <a:extLst>
              <a:ext uri="{FF2B5EF4-FFF2-40B4-BE49-F238E27FC236}">
                <a16:creationId xmlns:a16="http://schemas.microsoft.com/office/drawing/2014/main" id="{65AD6318-31B2-4E2C-ADC5-186CA510A7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608" y="1473840"/>
            <a:ext cx="481406" cy="481406"/>
          </a:xfrm>
          <a:prstGeom prst="rect">
            <a:avLst/>
          </a:prstGeom>
        </p:spPr>
      </p:pic>
      <p:pic>
        <p:nvPicPr>
          <p:cNvPr id="14" name="Graphic 13" descr="Arrow Slight curve">
            <a:extLst>
              <a:ext uri="{FF2B5EF4-FFF2-40B4-BE49-F238E27FC236}">
                <a16:creationId xmlns:a16="http://schemas.microsoft.com/office/drawing/2014/main" id="{B8B48497-46CC-41C7-87CE-93BACD783E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711" y="1903885"/>
            <a:ext cx="481406" cy="481406"/>
          </a:xfrm>
          <a:prstGeom prst="rect">
            <a:avLst/>
          </a:prstGeom>
        </p:spPr>
      </p:pic>
      <p:pic>
        <p:nvPicPr>
          <p:cNvPr id="15" name="Graphic 14" descr="Arrow Slight curve">
            <a:extLst>
              <a:ext uri="{FF2B5EF4-FFF2-40B4-BE49-F238E27FC236}">
                <a16:creationId xmlns:a16="http://schemas.microsoft.com/office/drawing/2014/main" id="{CD90FD58-F967-4BBE-995D-44A2760061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711" y="2282188"/>
            <a:ext cx="481406" cy="481406"/>
          </a:xfrm>
          <a:prstGeom prst="rect">
            <a:avLst/>
          </a:prstGeom>
        </p:spPr>
      </p:pic>
      <p:pic>
        <p:nvPicPr>
          <p:cNvPr id="16" name="Graphic 15" descr="Arrow Slight curve">
            <a:extLst>
              <a:ext uri="{FF2B5EF4-FFF2-40B4-BE49-F238E27FC236}">
                <a16:creationId xmlns:a16="http://schemas.microsoft.com/office/drawing/2014/main" id="{7A7FA1AA-614A-43B1-93F1-D9892103D2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746" y="2627740"/>
            <a:ext cx="481406" cy="48140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1741425-876C-4A48-9FCD-331AD4110E1B}"/>
              </a:ext>
            </a:extLst>
          </p:cNvPr>
          <p:cNvSpPr txBox="1"/>
          <p:nvPr/>
        </p:nvSpPr>
        <p:spPr>
          <a:xfrm>
            <a:off x="629770" y="1110931"/>
            <a:ext cx="4791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Introduction</a:t>
            </a:r>
            <a:endParaRPr lang="en-IN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3CC065-3996-4DA9-AF02-E93D27111DDA}"/>
              </a:ext>
            </a:extLst>
          </p:cNvPr>
          <p:cNvSpPr txBox="1"/>
          <p:nvPr/>
        </p:nvSpPr>
        <p:spPr>
          <a:xfrm>
            <a:off x="588978" y="1902274"/>
            <a:ext cx="3688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Handling Missing Values</a:t>
            </a:r>
            <a:endParaRPr lang="en-IN" sz="2400" b="1" dirty="0"/>
          </a:p>
        </p:txBody>
      </p:sp>
      <p:pic>
        <p:nvPicPr>
          <p:cNvPr id="21" name="Graphic 20" descr="Arrow Slight curve">
            <a:extLst>
              <a:ext uri="{FF2B5EF4-FFF2-40B4-BE49-F238E27FC236}">
                <a16:creationId xmlns:a16="http://schemas.microsoft.com/office/drawing/2014/main" id="{D7EA44F5-50AA-4A82-90F0-D109336552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746" y="3024341"/>
            <a:ext cx="481406" cy="48140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33C212-D772-45E8-A0A9-2F205266BD77}"/>
              </a:ext>
            </a:extLst>
          </p:cNvPr>
          <p:cNvSpPr txBox="1"/>
          <p:nvPr/>
        </p:nvSpPr>
        <p:spPr>
          <a:xfrm>
            <a:off x="588978" y="2294865"/>
            <a:ext cx="1827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Encoding</a:t>
            </a:r>
            <a:endParaRPr lang="en-IN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A60218-A307-44C6-B38F-6AA6CFA99E27}"/>
              </a:ext>
            </a:extLst>
          </p:cNvPr>
          <p:cNvSpPr txBox="1"/>
          <p:nvPr/>
        </p:nvSpPr>
        <p:spPr>
          <a:xfrm>
            <a:off x="570152" y="2660968"/>
            <a:ext cx="38763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Feature</a:t>
            </a:r>
            <a:r>
              <a:rPr lang="en-US" sz="2000" b="1" dirty="0"/>
              <a:t> </a:t>
            </a:r>
            <a:r>
              <a:rPr lang="en-US" sz="2400" b="1" dirty="0"/>
              <a:t>Scaling</a:t>
            </a:r>
          </a:p>
          <a:p>
            <a:endParaRPr lang="en-IN" sz="2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FE0CBA-F0FD-4517-AB33-382CFCC320A1}"/>
              </a:ext>
            </a:extLst>
          </p:cNvPr>
          <p:cNvSpPr txBox="1"/>
          <p:nvPr/>
        </p:nvSpPr>
        <p:spPr>
          <a:xfrm>
            <a:off x="588978" y="3020594"/>
            <a:ext cx="300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Handling Outliers</a:t>
            </a:r>
            <a:endParaRPr lang="en-IN" sz="24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DF26CD-338F-4B22-83EA-C2A9EE31ED82}"/>
              </a:ext>
            </a:extLst>
          </p:cNvPr>
          <p:cNvSpPr txBox="1"/>
          <p:nvPr/>
        </p:nvSpPr>
        <p:spPr>
          <a:xfrm>
            <a:off x="621256" y="3706086"/>
            <a:ext cx="3003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endParaRPr lang="en-IN" sz="24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7658BB-63DC-482D-BC7C-791A0527A7C2}"/>
              </a:ext>
            </a:extLst>
          </p:cNvPr>
          <p:cNvSpPr txBox="1"/>
          <p:nvPr/>
        </p:nvSpPr>
        <p:spPr>
          <a:xfrm>
            <a:off x="570152" y="3384823"/>
            <a:ext cx="3003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Application </a:t>
            </a:r>
          </a:p>
          <a:p>
            <a:endParaRPr lang="en-IN" sz="2400" b="1" dirty="0"/>
          </a:p>
        </p:txBody>
      </p:sp>
      <p:pic>
        <p:nvPicPr>
          <p:cNvPr id="31" name="Graphic 30" descr="Arrow Slight curve">
            <a:extLst>
              <a:ext uri="{FF2B5EF4-FFF2-40B4-BE49-F238E27FC236}">
                <a16:creationId xmlns:a16="http://schemas.microsoft.com/office/drawing/2014/main" id="{635231AE-FF77-4883-963A-9CD8D348CF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298" y="3744449"/>
            <a:ext cx="481406" cy="481406"/>
          </a:xfrm>
          <a:prstGeom prst="rect">
            <a:avLst/>
          </a:prstGeom>
        </p:spPr>
      </p:pic>
      <p:pic>
        <p:nvPicPr>
          <p:cNvPr id="34" name="Graphic 33" descr="Arrow Slight curve">
            <a:extLst>
              <a:ext uri="{FF2B5EF4-FFF2-40B4-BE49-F238E27FC236}">
                <a16:creationId xmlns:a16="http://schemas.microsoft.com/office/drawing/2014/main" id="{D4440A72-E633-43A8-9791-15C0AD3ECA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746" y="3392727"/>
            <a:ext cx="481406" cy="48140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CBF69C5-F454-4960-89A3-B2FE14643E8F}"/>
              </a:ext>
            </a:extLst>
          </p:cNvPr>
          <p:cNvSpPr txBox="1"/>
          <p:nvPr/>
        </p:nvSpPr>
        <p:spPr>
          <a:xfrm>
            <a:off x="605117" y="1498394"/>
            <a:ext cx="5190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Need For Data Preprocessing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0D9540-7387-441E-9404-B95CE8815916}"/>
              </a:ext>
            </a:extLst>
          </p:cNvPr>
          <p:cNvSpPr txBox="1"/>
          <p:nvPr/>
        </p:nvSpPr>
        <p:spPr>
          <a:xfrm>
            <a:off x="587187" y="3739259"/>
            <a:ext cx="1671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References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68805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4A216-5FD8-4A71-989F-BA4EB9B5C297}"/>
              </a:ext>
            </a:extLst>
          </p:cNvPr>
          <p:cNvSpPr txBox="1"/>
          <p:nvPr/>
        </p:nvSpPr>
        <p:spPr>
          <a:xfrm>
            <a:off x="112057" y="994359"/>
            <a:ext cx="5087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What is Data </a:t>
            </a:r>
            <a:r>
              <a:rPr lang="en-IN" sz="2800" b="1" dirty="0" err="1"/>
              <a:t>Preprocessing</a:t>
            </a:r>
            <a:r>
              <a:rPr lang="en-IN" sz="2800" b="1" dirty="0"/>
              <a:t>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575B75-54AF-4D8E-BF1A-937759B8FF9B}"/>
              </a:ext>
            </a:extLst>
          </p:cNvPr>
          <p:cNvSpPr/>
          <p:nvPr/>
        </p:nvSpPr>
        <p:spPr>
          <a:xfrm>
            <a:off x="112057" y="1454193"/>
            <a:ext cx="125236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Data preprocessing is the process of transforming raw data into a clean and meaningful format before training a machine learning model.</a:t>
            </a:r>
            <a:endParaRPr lang="en-IN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5891E4-A01B-48A1-A7A3-292C421BA7B3}"/>
              </a:ext>
            </a:extLst>
          </p:cNvPr>
          <p:cNvSpPr/>
          <p:nvPr/>
        </p:nvSpPr>
        <p:spPr>
          <a:xfrm>
            <a:off x="112057" y="1705516"/>
            <a:ext cx="3047999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Real-world data usually contains: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Missing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Duplicate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Different scales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Incorrect formats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Categorical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Outliers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Noise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930521-BAAB-4F5C-A1A7-0B93EFD8239D}"/>
              </a:ext>
            </a:extLst>
          </p:cNvPr>
          <p:cNvSpPr/>
          <p:nvPr/>
        </p:nvSpPr>
        <p:spPr>
          <a:xfrm>
            <a:off x="5199528" y="4566835"/>
            <a:ext cx="373882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Problems: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Missing Area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Missing Bedrooms </a:t>
            </a:r>
          </a:p>
          <a:p>
            <a:r>
              <a:rPr lang="en-US" sz="1400" dirty="0"/>
              <a:t>We must preprocess the data before training.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7C813D-39FF-4345-AC7E-3EB04A1F2E4A}"/>
              </a:ext>
            </a:extLst>
          </p:cNvPr>
          <p:cNvSpPr txBox="1"/>
          <p:nvPr/>
        </p:nvSpPr>
        <p:spPr>
          <a:xfrm>
            <a:off x="210667" y="3740425"/>
            <a:ext cx="1645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endParaRPr lang="en-IN" b="1" dirty="0"/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EB679B92-0CE1-4CA9-BC32-C3EC07E0906F}"/>
              </a:ext>
            </a:extLst>
          </p:cNvPr>
          <p:cNvSpPr/>
          <p:nvPr/>
        </p:nvSpPr>
        <p:spPr>
          <a:xfrm>
            <a:off x="210667" y="4154287"/>
            <a:ext cx="3195921" cy="202827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2"/>
              </a:solidFill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837BC10-E56B-495A-B6DD-6C3C96744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716531"/>
              </p:ext>
            </p:extLst>
          </p:nvPr>
        </p:nvGraphicFramePr>
        <p:xfrm>
          <a:off x="285721" y="4294568"/>
          <a:ext cx="3353952" cy="1887990"/>
        </p:xfrm>
        <a:graphic>
          <a:graphicData uri="http://schemas.openxmlformats.org/drawingml/2006/table">
            <a:tbl>
              <a:tblPr/>
              <a:tblGrid>
                <a:gridCol w="1117984">
                  <a:extLst>
                    <a:ext uri="{9D8B030D-6E8A-4147-A177-3AD203B41FA5}">
                      <a16:colId xmlns:a16="http://schemas.microsoft.com/office/drawing/2014/main" val="2988695140"/>
                    </a:ext>
                  </a:extLst>
                </a:gridCol>
                <a:gridCol w="1117984">
                  <a:extLst>
                    <a:ext uri="{9D8B030D-6E8A-4147-A177-3AD203B41FA5}">
                      <a16:colId xmlns:a16="http://schemas.microsoft.com/office/drawing/2014/main" val="2432985476"/>
                    </a:ext>
                  </a:extLst>
                </a:gridCol>
                <a:gridCol w="1117984">
                  <a:extLst>
                    <a:ext uri="{9D8B030D-6E8A-4147-A177-3AD203B41FA5}">
                      <a16:colId xmlns:a16="http://schemas.microsoft.com/office/drawing/2014/main" val="2330113306"/>
                    </a:ext>
                  </a:extLst>
                </a:gridCol>
              </a:tblGrid>
              <a:tr h="377598">
                <a:tc>
                  <a:txBody>
                    <a:bodyPr/>
                    <a:lstStyle/>
                    <a:p>
                      <a:r>
                        <a:rPr lang="en-IN" sz="1600" dirty="0"/>
                        <a:t>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Bedrooms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127990"/>
                  </a:ext>
                </a:extLst>
              </a:tr>
              <a:tr h="377598">
                <a:tc>
                  <a:txBody>
                    <a:bodyPr/>
                    <a:lstStyle/>
                    <a:p>
                      <a:r>
                        <a:rPr lang="en-IN" sz="1600" dirty="0"/>
                        <a:t>1500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50 Lakh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336750"/>
                  </a:ext>
                </a:extLst>
              </a:tr>
              <a:tr h="377598">
                <a:tc>
                  <a:txBody>
                    <a:bodyPr/>
                    <a:lstStyle/>
                    <a:p>
                      <a:r>
                        <a:rPr lang="en-IN" sz="1600" dirty="0" err="1"/>
                        <a:t>NaN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35 Lakh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660175"/>
                  </a:ext>
                </a:extLst>
              </a:tr>
              <a:tr h="377598">
                <a:tc>
                  <a:txBody>
                    <a:bodyPr/>
                    <a:lstStyle/>
                    <a:p>
                      <a:r>
                        <a:rPr lang="en-IN" sz="1600"/>
                        <a:t>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70 Lakh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387595"/>
                  </a:ext>
                </a:extLst>
              </a:tr>
              <a:tr h="377598">
                <a:tc>
                  <a:txBody>
                    <a:bodyPr/>
                    <a:lstStyle/>
                    <a:p>
                      <a:r>
                        <a:rPr lang="en-IN" sz="1600"/>
                        <a:t>1800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NaN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60 Lakh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5763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AFAEE3-8754-4499-86F3-A1A61FF3AC9B}"/>
              </a:ext>
            </a:extLst>
          </p:cNvPr>
          <p:cNvSpPr/>
          <p:nvPr/>
        </p:nvSpPr>
        <p:spPr>
          <a:xfrm>
            <a:off x="143435" y="975311"/>
            <a:ext cx="535192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IMPORTANCE OF DATA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Improves accuracy of machine learning models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Handles missing and inconsistent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Reduces noise and redundancy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Converts raw data into usable format for algorithms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Enhances model performance and reliability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7A537-36AB-4D26-A06D-9FDC09FFD321}"/>
              </a:ext>
            </a:extLst>
          </p:cNvPr>
          <p:cNvSpPr/>
          <p:nvPr/>
        </p:nvSpPr>
        <p:spPr>
          <a:xfrm>
            <a:off x="143435" y="2849353"/>
            <a:ext cx="82475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MACHINE LEARNING PIPELINE</a:t>
            </a:r>
          </a:p>
          <a:p>
            <a:r>
              <a:rPr lang="en-US" dirty="0"/>
              <a:t>Raw Data → Data Cleaning → Feature Engineering → Model Training → Prediction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0C3FA7-7D4B-4D56-A3EF-150333707AFC}"/>
              </a:ext>
            </a:extLst>
          </p:cNvPr>
          <p:cNvSpPr/>
          <p:nvPr/>
        </p:nvSpPr>
        <p:spPr>
          <a:xfrm>
            <a:off x="1613647" y="3975061"/>
            <a:ext cx="537882" cy="4365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0A8F8F58-DCB1-4221-93D8-165524E60DF0}"/>
              </a:ext>
            </a:extLst>
          </p:cNvPr>
          <p:cNvSpPr/>
          <p:nvPr/>
        </p:nvSpPr>
        <p:spPr>
          <a:xfrm>
            <a:off x="333935" y="3975060"/>
            <a:ext cx="1290918" cy="564777"/>
          </a:xfrm>
          <a:prstGeom prst="flowChartDocumen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421CA-A323-4F4B-AB2D-F6A14ECFE62A}"/>
              </a:ext>
            </a:extLst>
          </p:cNvPr>
          <p:cNvSpPr txBox="1"/>
          <p:nvPr/>
        </p:nvSpPr>
        <p:spPr>
          <a:xfrm>
            <a:off x="322729" y="3985448"/>
            <a:ext cx="1420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Raw Data</a:t>
            </a:r>
          </a:p>
        </p:txBody>
      </p:sp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AA2E2622-60ED-4AF7-8BFB-1C517E8B407D}"/>
              </a:ext>
            </a:extLst>
          </p:cNvPr>
          <p:cNvSpPr/>
          <p:nvPr/>
        </p:nvSpPr>
        <p:spPr>
          <a:xfrm>
            <a:off x="5712758" y="3967469"/>
            <a:ext cx="1290918" cy="564777"/>
          </a:xfrm>
          <a:prstGeom prst="flowChartDocumen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A580DE7F-AA4B-429E-BA09-A681FFC2B1FA}"/>
              </a:ext>
            </a:extLst>
          </p:cNvPr>
          <p:cNvSpPr/>
          <p:nvPr/>
        </p:nvSpPr>
        <p:spPr>
          <a:xfrm>
            <a:off x="2173940" y="3975061"/>
            <a:ext cx="1290918" cy="564777"/>
          </a:xfrm>
          <a:prstGeom prst="flowChartDocumen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Document 13">
            <a:extLst>
              <a:ext uri="{FF2B5EF4-FFF2-40B4-BE49-F238E27FC236}">
                <a16:creationId xmlns:a16="http://schemas.microsoft.com/office/drawing/2014/main" id="{C9F8D982-5D07-4989-B653-73E3B448ECAB}"/>
              </a:ext>
            </a:extLst>
          </p:cNvPr>
          <p:cNvSpPr/>
          <p:nvPr/>
        </p:nvSpPr>
        <p:spPr>
          <a:xfrm>
            <a:off x="7552763" y="3944510"/>
            <a:ext cx="1290918" cy="564777"/>
          </a:xfrm>
          <a:prstGeom prst="flowChartDocumen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057D37-DCB6-46AF-9F2A-BF31038C88A9}"/>
              </a:ext>
            </a:extLst>
          </p:cNvPr>
          <p:cNvSpPr txBox="1"/>
          <p:nvPr/>
        </p:nvSpPr>
        <p:spPr>
          <a:xfrm>
            <a:off x="2068606" y="3985448"/>
            <a:ext cx="1721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Cleaning</a:t>
            </a:r>
          </a:p>
        </p:txBody>
      </p:sp>
      <p:sp>
        <p:nvSpPr>
          <p:cNvPr id="16" name="Flowchart: Document 15">
            <a:extLst>
              <a:ext uri="{FF2B5EF4-FFF2-40B4-BE49-F238E27FC236}">
                <a16:creationId xmlns:a16="http://schemas.microsoft.com/office/drawing/2014/main" id="{9FCD36D3-EABF-4DFF-8E6C-C4A2F0FCC20B}"/>
              </a:ext>
            </a:extLst>
          </p:cNvPr>
          <p:cNvSpPr/>
          <p:nvPr/>
        </p:nvSpPr>
        <p:spPr>
          <a:xfrm>
            <a:off x="4002740" y="3967469"/>
            <a:ext cx="1160931" cy="581301"/>
          </a:xfrm>
          <a:prstGeom prst="flowChartDocumen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3A0FFB-43C1-4E96-83E2-37A705FF9621}"/>
              </a:ext>
            </a:extLst>
          </p:cNvPr>
          <p:cNvSpPr txBox="1"/>
          <p:nvPr/>
        </p:nvSpPr>
        <p:spPr>
          <a:xfrm>
            <a:off x="3926539" y="3893507"/>
            <a:ext cx="2335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Feature</a:t>
            </a:r>
          </a:p>
          <a:p>
            <a:r>
              <a:rPr lang="en-IN" dirty="0"/>
              <a:t>Engineering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AB2B373-09EA-4E0C-B09F-B71D1049F867}"/>
              </a:ext>
            </a:extLst>
          </p:cNvPr>
          <p:cNvSpPr/>
          <p:nvPr/>
        </p:nvSpPr>
        <p:spPr>
          <a:xfrm>
            <a:off x="5174876" y="4008647"/>
            <a:ext cx="537882" cy="4365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AD11C1E-7A73-4288-8A3D-27A2583ED5AF}"/>
              </a:ext>
            </a:extLst>
          </p:cNvPr>
          <p:cNvSpPr/>
          <p:nvPr/>
        </p:nvSpPr>
        <p:spPr>
          <a:xfrm>
            <a:off x="3464858" y="4011301"/>
            <a:ext cx="537882" cy="4365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D45E61D-36D8-4DA9-B6FD-9836D33FF77C}"/>
              </a:ext>
            </a:extLst>
          </p:cNvPr>
          <p:cNvSpPr/>
          <p:nvPr/>
        </p:nvSpPr>
        <p:spPr>
          <a:xfrm>
            <a:off x="7014881" y="4037348"/>
            <a:ext cx="537882" cy="4365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73BBA8-AC49-4F71-962D-2ED8C098DCD2}"/>
              </a:ext>
            </a:extLst>
          </p:cNvPr>
          <p:cNvSpPr txBox="1"/>
          <p:nvPr/>
        </p:nvSpPr>
        <p:spPr>
          <a:xfrm>
            <a:off x="5643282" y="3902439"/>
            <a:ext cx="1080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Model Training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2B1365-1EFA-48E3-8642-0E443143D5D3}"/>
              </a:ext>
            </a:extLst>
          </p:cNvPr>
          <p:cNvSpPr txBox="1"/>
          <p:nvPr/>
        </p:nvSpPr>
        <p:spPr>
          <a:xfrm>
            <a:off x="7456391" y="3944510"/>
            <a:ext cx="1290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Prediction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03C9E2-77D6-44CC-9A70-D312ACBB78B9}"/>
              </a:ext>
            </a:extLst>
          </p:cNvPr>
          <p:cNvSpPr/>
          <p:nvPr/>
        </p:nvSpPr>
        <p:spPr>
          <a:xfrm>
            <a:off x="143435" y="4927943"/>
            <a:ext cx="113498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machine learning pipeline makes the process automated, organized, reproducible, and efficient from raw data to final prediction.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0635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0891B3-F448-41EC-81E4-924B0ACE5FDB}"/>
              </a:ext>
            </a:extLst>
          </p:cNvPr>
          <p:cNvSpPr/>
          <p:nvPr/>
        </p:nvSpPr>
        <p:spPr>
          <a:xfrm>
            <a:off x="107577" y="888468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COMMON ISSUES IN RAW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Missing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Categorical variables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Outliers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Different feature scales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Noisy and inconsistent data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DFEC96D-2761-4A56-8260-E7EA01BD8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29" y="3244135"/>
            <a:ext cx="103990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datasets have missing fields (represented as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you generally have two choices: delete them or fill them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8328F6-1E03-4F17-B0DA-3FFCCB2E6AB3}"/>
              </a:ext>
            </a:extLst>
          </p:cNvPr>
          <p:cNvSpPr txBox="1"/>
          <p:nvPr/>
        </p:nvSpPr>
        <p:spPr>
          <a:xfrm>
            <a:off x="170329" y="2782470"/>
            <a:ext cx="2985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Missing Values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45B296F-6297-4834-A3E6-1894971F3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588" y="3891318"/>
            <a:ext cx="21852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dropna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(Deletion)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2589C696-8666-499A-A50C-5E9A9316A3BB}"/>
              </a:ext>
            </a:extLst>
          </p:cNvPr>
          <p:cNvSpPr/>
          <p:nvPr/>
        </p:nvSpPr>
        <p:spPr>
          <a:xfrm>
            <a:off x="170329" y="3960294"/>
            <a:ext cx="251011" cy="1778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2A5BBE-404A-4AE9-B70A-CB9E53DAD846}"/>
              </a:ext>
            </a:extLst>
          </p:cNvPr>
          <p:cNvSpPr/>
          <p:nvPr/>
        </p:nvSpPr>
        <p:spPr>
          <a:xfrm>
            <a:off x="170329" y="4207070"/>
            <a:ext cx="75213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This approach removes entire rows or columns that contain missing data.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E49236-DB3F-499F-BD80-BC802DB3AFF7}"/>
              </a:ext>
            </a:extLst>
          </p:cNvPr>
          <p:cNvSpPr/>
          <p:nvPr/>
        </p:nvSpPr>
        <p:spPr>
          <a:xfrm>
            <a:off x="107577" y="44462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Use it when: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missing values are very rare (e.g., less than 2% to 5% of your dataset).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are missing the column you are trying to predict. You can't safely guess the answer!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D538CB-0184-42B8-9A6B-B494582FB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229" y="5883994"/>
            <a:ext cx="3639630" cy="7123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B3BC4B-7A36-4295-90E4-ADBBFB3B7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4511" y="5998208"/>
            <a:ext cx="3343742" cy="4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35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905E121-8ACA-4F95-BC05-5CF75E772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2" y="888468"/>
            <a:ext cx="21739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 err="1">
                <a:latin typeface="Arial" panose="020B0604020202020204" pitchFamily="34" charset="0"/>
              </a:rPr>
              <a:t>Fillna</a:t>
            </a:r>
            <a:r>
              <a:rPr lang="en-US" altLang="en-US" b="1" dirty="0">
                <a:latin typeface="Arial" panose="020B0604020202020204" pitchFamily="34" charset="0"/>
              </a:rPr>
              <a:t>(Imputation)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D5238A6-DA30-421E-AE7C-4EC327CCE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2" y="1177970"/>
            <a:ext cx="91743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Filling (also called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imputation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means you replace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values with a smart substitute</a:t>
            </a:r>
            <a:r>
              <a:rPr lang="en-US" altLang="en-US" sz="800" dirty="0"/>
              <a:t>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A348BE1-D62C-46FC-89B4-30D7F414C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2" y="1383677"/>
            <a:ext cx="1049740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it When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have a smaller dataset and cannot afford to lose any rows.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column has a clear statistical pattern.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Strategies: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Best for numerical columns that have extreme outliers (e.g., Salary, House Prices).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Best for normally distributed numerical columns without wild outliers (e.g., Human Heights).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it when: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 (Most Frequent):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Best for categorical text columns (e.g., City, Color).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588A0E-4732-4F6F-B887-713AD7208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175" y="3703601"/>
            <a:ext cx="6083153" cy="294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224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084BE2-5CC1-42C0-A4AB-409C8FFEDF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12648"/>
            <a:ext cx="12192000" cy="6854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F2C371-5E9D-4F60-A506-2CB6F019F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9901" y="4757016"/>
            <a:ext cx="4468781" cy="169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257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D3B761C-88A3-4A0C-AEB8-35AA23305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2" y="958296"/>
            <a:ext cx="43777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MinMaxScaler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(Normalization)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57F96A-40EC-48E2-9E46-0F5FB08BD903}"/>
              </a:ext>
            </a:extLst>
          </p:cNvPr>
          <p:cNvSpPr txBox="1"/>
          <p:nvPr/>
        </p:nvSpPr>
        <p:spPr>
          <a:xfrm>
            <a:off x="98612" y="1307447"/>
            <a:ext cx="1199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Normalization shrinks and bounds your data so that every single value falls strictly within a specified range, </a:t>
            </a:r>
            <a:r>
              <a:rPr lang="en-US" b="1" dirty="0"/>
              <a:t>almost always between 0 and 1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813BBE-B71B-4F62-B622-88FA43419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480" y="2191097"/>
            <a:ext cx="2581635" cy="866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A7A4A1-5CA3-4052-B93C-9497EC2433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9278" y="1763761"/>
            <a:ext cx="4486901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330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358827" y="95476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5F0A0F-4A8F-4F95-B0C4-05745AC82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710420"/>
              </p:ext>
            </p:extLst>
          </p:nvPr>
        </p:nvGraphicFramePr>
        <p:xfrm>
          <a:off x="206188" y="1039608"/>
          <a:ext cx="10157012" cy="4554368"/>
        </p:xfrm>
        <a:graphic>
          <a:graphicData uri="http://schemas.openxmlformats.org/drawingml/2006/table">
            <a:tbl>
              <a:tblPr/>
              <a:tblGrid>
                <a:gridCol w="1250807">
                  <a:extLst>
                    <a:ext uri="{9D8B030D-6E8A-4147-A177-3AD203B41FA5}">
                      <a16:colId xmlns:a16="http://schemas.microsoft.com/office/drawing/2014/main" val="1435699481"/>
                    </a:ext>
                  </a:extLst>
                </a:gridCol>
                <a:gridCol w="1250807">
                  <a:extLst>
                    <a:ext uri="{9D8B030D-6E8A-4147-A177-3AD203B41FA5}">
                      <a16:colId xmlns:a16="http://schemas.microsoft.com/office/drawing/2014/main" val="2090719209"/>
                    </a:ext>
                  </a:extLst>
                </a:gridCol>
                <a:gridCol w="1250807">
                  <a:extLst>
                    <a:ext uri="{9D8B030D-6E8A-4147-A177-3AD203B41FA5}">
                      <a16:colId xmlns:a16="http://schemas.microsoft.com/office/drawing/2014/main" val="453501971"/>
                    </a:ext>
                  </a:extLst>
                </a:gridCol>
                <a:gridCol w="1250807">
                  <a:extLst>
                    <a:ext uri="{9D8B030D-6E8A-4147-A177-3AD203B41FA5}">
                      <a16:colId xmlns:a16="http://schemas.microsoft.com/office/drawing/2014/main" val="3284888617"/>
                    </a:ext>
                  </a:extLst>
                </a:gridCol>
                <a:gridCol w="1250807">
                  <a:extLst>
                    <a:ext uri="{9D8B030D-6E8A-4147-A177-3AD203B41FA5}">
                      <a16:colId xmlns:a16="http://schemas.microsoft.com/office/drawing/2014/main" val="3970221898"/>
                    </a:ext>
                  </a:extLst>
                </a:gridCol>
                <a:gridCol w="3902977">
                  <a:extLst>
                    <a:ext uri="{9D8B030D-6E8A-4147-A177-3AD203B41FA5}">
                      <a16:colId xmlns:a16="http://schemas.microsoft.com/office/drawing/2014/main" val="1419131246"/>
                    </a:ext>
                  </a:extLst>
                </a:gridCol>
              </a:tblGrid>
              <a:tr h="679847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CustomerID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Age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City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Annual_Spend ($)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Membership_Tier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Churned? (Target)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0481757"/>
                  </a:ext>
                </a:extLst>
              </a:tr>
              <a:tr h="488639"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New York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45000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Bronze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1677540"/>
                  </a:ext>
                </a:extLst>
              </a:tr>
              <a:tr h="343225"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London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85000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Gold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697285"/>
                  </a:ext>
                </a:extLst>
              </a:tr>
              <a:tr h="343225"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103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Paris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62000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Silver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818714"/>
                  </a:ext>
                </a:extLst>
              </a:tr>
              <a:tr h="343225"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104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London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Bronze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2645413"/>
                  </a:ext>
                </a:extLst>
              </a:tr>
              <a:tr h="488639"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New York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120000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Gold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NaN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063810"/>
                  </a:ext>
                </a:extLst>
              </a:tr>
              <a:tr h="343225"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106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58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95000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Silver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076484"/>
                  </a:ext>
                </a:extLst>
              </a:tr>
              <a:tr h="1169170"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Paris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2100000 </a:t>
                      </a:r>
                      <a:r>
                        <a:rPr lang="en-IN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(Outlier!)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Gold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046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D72E418-1F42-488B-A967-0B725F8BBA19}"/>
              </a:ext>
            </a:extLst>
          </p:cNvPr>
          <p:cNvSpPr txBox="1"/>
          <p:nvPr/>
        </p:nvSpPr>
        <p:spPr>
          <a:xfrm>
            <a:off x="416860" y="219864"/>
            <a:ext cx="30793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Application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65DED0-7A85-4CB2-8173-14BE4B4B95DC}"/>
              </a:ext>
            </a:extLst>
          </p:cNvPr>
          <p:cNvSpPr txBox="1"/>
          <p:nvPr/>
        </p:nvSpPr>
        <p:spPr>
          <a:xfrm>
            <a:off x="206188" y="5735621"/>
            <a:ext cx="7758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Here,this</a:t>
            </a:r>
            <a:r>
              <a:rPr lang="en-IN" dirty="0"/>
              <a:t> is the Dataset which contains missing </a:t>
            </a:r>
            <a:r>
              <a:rPr lang="en-IN" dirty="0" err="1"/>
              <a:t>values,categorical</a:t>
            </a:r>
            <a:r>
              <a:rPr lang="en-IN" dirty="0"/>
              <a:t> text etc.</a:t>
            </a:r>
          </a:p>
        </p:txBody>
      </p:sp>
    </p:spTree>
    <p:extLst>
      <p:ext uri="{BB962C8B-B14F-4D97-AF65-F5344CB8AC3E}">
        <p14:creationId xmlns:p14="http://schemas.microsoft.com/office/powerpoint/2010/main" val="1359063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72D2EA-812E-4A3E-972D-997783C2D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3" y="924579"/>
            <a:ext cx="9673958" cy="56768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8125D3-FD48-4AA6-A8C6-4A868D1A1655}"/>
              </a:ext>
            </a:extLst>
          </p:cNvPr>
          <p:cNvSpPr txBox="1"/>
          <p:nvPr/>
        </p:nvSpPr>
        <p:spPr>
          <a:xfrm>
            <a:off x="416860" y="219864"/>
            <a:ext cx="30793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Application</a:t>
            </a:r>
          </a:p>
        </p:txBody>
      </p:sp>
    </p:spTree>
    <p:extLst>
      <p:ext uri="{BB962C8B-B14F-4D97-AF65-F5344CB8AC3E}">
        <p14:creationId xmlns:p14="http://schemas.microsoft.com/office/powerpoint/2010/main" val="296332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363967" y="1758249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26CBF1-A3AA-42CC-898E-153ECD61A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67" y="1227152"/>
            <a:ext cx="6572020" cy="30669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70A108-D877-4AF6-8C87-9B65D4720CA6}"/>
              </a:ext>
            </a:extLst>
          </p:cNvPr>
          <p:cNvSpPr txBox="1"/>
          <p:nvPr/>
        </p:nvSpPr>
        <p:spPr>
          <a:xfrm>
            <a:off x="416860" y="219864"/>
            <a:ext cx="30793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BEFC73-CBCF-4D42-8BA3-6798B9DB2F82}"/>
              </a:ext>
            </a:extLst>
          </p:cNvPr>
          <p:cNvSpPr txBox="1"/>
          <p:nvPr/>
        </p:nvSpPr>
        <p:spPr>
          <a:xfrm>
            <a:off x="528153" y="5019192"/>
            <a:ext cx="6719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360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03792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96A3489-B78B-4910-AF53-DAEC2E26E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49442"/>
            <a:ext cx="70214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•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-Learn Official Guide: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Preprocessing Documentation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5B7FD6-E03C-42ED-916F-9295EAA41D62}"/>
              </a:ext>
            </a:extLst>
          </p:cNvPr>
          <p:cNvSpPr/>
          <p:nvPr/>
        </p:nvSpPr>
        <p:spPr>
          <a:xfrm>
            <a:off x="0" y="934579"/>
            <a:ext cx="83909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• Kaggle – </a:t>
            </a:r>
            <a:r>
              <a:rPr lang="en-US" sz="2000" dirty="0"/>
              <a:t>Data Cleaning — https://www.kaggle.com/learn/data-cleaning</a:t>
            </a:r>
            <a:endParaRPr lang="en-IN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97AB37-EF10-4891-AAAD-1390BF92FAB8}"/>
              </a:ext>
            </a:extLst>
          </p:cNvPr>
          <p:cNvSpPr/>
          <p:nvPr/>
        </p:nvSpPr>
        <p:spPr>
          <a:xfrm>
            <a:off x="0" y="1533526"/>
            <a:ext cx="76737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• </a:t>
            </a:r>
            <a:r>
              <a:rPr lang="en-US" sz="2000" b="1" dirty="0" err="1"/>
              <a:t>GeeksforGeeks</a:t>
            </a:r>
            <a:r>
              <a:rPr lang="en-US" b="1" dirty="0"/>
              <a:t>:</a:t>
            </a:r>
            <a:r>
              <a:rPr lang="en-US" dirty="0"/>
              <a:t> Data Preprocessing in Machine Learning using Python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1822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633</TotalTime>
  <Words>568</Words>
  <Application>Microsoft Office PowerPoint</Application>
  <PresentationFormat>Widescreen</PresentationFormat>
  <Paragraphs>145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Unicode MS</vt:lpstr>
      <vt:lpstr>Calibri</vt:lpstr>
      <vt:lpstr>Calibri Light</vt:lpstr>
      <vt:lpstr>Georgia</vt:lpstr>
      <vt:lpstr>Google Sans Text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user2</cp:lastModifiedBy>
  <cp:revision>27</cp:revision>
  <dcterms:created xsi:type="dcterms:W3CDTF">2026-05-21T06:29:53Z</dcterms:created>
  <dcterms:modified xsi:type="dcterms:W3CDTF">2026-07-07T09:38:40Z</dcterms:modified>
</cp:coreProperties>
</file>